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8334d39a-16ab-eb12-f107-6cab2bbd99bf}">
          <p14:sldIdLst>
            <p14:sldId id="256"/>
            <p14:sldId id="257"/>
          </p14:sldIdLst>
        </p14:section>
        <p14:section name="01 Apa yang terjadi di September" id="{40d30157-26a8-7a8e-5e3d-005035b2b2c0}">
          <p14:sldIdLst>
            <p14:sldId id="258"/>
            <p14:sldId id="259"/>
            <p14:sldId id="260"/>
            <p14:sldId id="261"/>
            <p14:sldId id="262"/>
          </p14:sldIdLst>
        </p14:section>
        <p14:section name="02 Center yang perlu improvement" id="{e009f374-3260-3d5f-cf0b-f42803cbe904}">
          <p14:sldIdLst>
            <p14:sldId id="263"/>
            <p14:sldId id="264"/>
          </p14:sldIdLst>
        </p14:section>
        <p14:section name="03 Apa yang akan kita lakukan" id="{e5167d2b-fde8-03ee-bf69-9b078cb6f682}">
          <p14:sldIdLst>
            <p14:sldId id="265"/>
            <p14:sldId id="266"/>
            <p14:sldId id="267"/>
            <p14:sldId id="268"/>
            <p14:sldId id="269"/>
          </p14:sldIdLst>
        </p14:section>
        <p14:section name="04 Komitmen per center" id="{c8337759-4a77-32da-d319-2767691b06a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5B6B4"/>
              </a:solidFill>
              <a:ln w="9525" cap="flat">
                <a:solidFill>
                  <a:srgbClr val="0A3D4A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5563"/>
              </a:solidFill>
              <a:ln w="9525" cap="flat">
                <a:solidFill>
                  <a:srgbClr val="0A3D4A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Tercapai</c:v>
                </c:pt>
                <c:pt idx="1">
                  <c:v>Gap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2452</c:v>
                </c:pt>
                <c:pt idx="1">
                  <c:v>1148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4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42E"/>
                </a:solidFill>
                <a:latin typeface="+mn-lt"/>
              </a:rPr>
              <a:t>Revenue per center (Rp jt)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Agustus</c:v>
                </c:pt>
              </c:strCache>
            </c:strRef>
          </c:tx>
          <c:spPr>
            <a:solidFill>
              <a:srgbClr val="A9CD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KLM</c:v>
                  </c:pt>
                  <c:pt idx="1">
                    <c:v>KWC</c:v>
                  </c:pt>
                  <c:pt idx="2">
                    <c:v>PML</c:v>
                  </c:pt>
                  <c:pt idx="3">
                    <c:v>TMP</c:v>
                  </c:pt>
                  <c:pt idx="4">
                    <c:v>BTU</c:v>
                  </c:pt>
                  <c:pt idx="5">
                    <c:v>HIB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678</c:v>
                </c:pt>
                <c:pt idx="1">
                  <c:v>612</c:v>
                </c:pt>
                <c:pt idx="2">
                  <c:v>376</c:v>
                </c:pt>
                <c:pt idx="3">
                  <c:v>330</c:v>
                </c:pt>
                <c:pt idx="4">
                  <c:v>392</c:v>
                </c:pt>
                <c:pt idx="5">
                  <c:v>325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</c:v>
                </c:pt>
              </c:strCache>
            </c:strRef>
          </c:tx>
          <c:spPr>
            <a:solidFill>
              <a:srgbClr val="0B64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KLM</c:v>
                  </c:pt>
                  <c:pt idx="1">
                    <c:v>KWC</c:v>
                  </c:pt>
                  <c:pt idx="2">
                    <c:v>PML</c:v>
                  </c:pt>
                  <c:pt idx="3">
                    <c:v>TMP</c:v>
                  </c:pt>
                  <c:pt idx="4">
                    <c:v>BTU</c:v>
                  </c:pt>
                  <c:pt idx="5">
                    <c:v>HIB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651</c:v>
                </c:pt>
                <c:pt idx="1">
                  <c:v>473</c:v>
                </c:pt>
                <c:pt idx="2">
                  <c:v>311</c:v>
                </c:pt>
                <c:pt idx="3">
                  <c:v>221</c:v>
                </c:pt>
                <c:pt idx="4">
                  <c:v>393</c:v>
                </c:pt>
                <c:pt idx="5">
                  <c:v>403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42E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Target Rp 600 jt</c:v>
                </c:pt>
              </c:strCache>
            </c:strRef>
          </c:tx>
          <c:spPr>
            <a:solidFill>
              <a:srgbClr val="D9482B"/>
            </a:solidFill>
            <a:ln w="25400" cap="flat">
              <a:solidFill>
                <a:srgbClr val="D9482B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482B"/>
              </a:solidFill>
              <a:ln w="9525" cap="flat">
                <a:solidFill>
                  <a:srgbClr val="D948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KLM</c:v>
                  </c:pt>
                  <c:pt idx="1">
                    <c:v>KWC</c:v>
                  </c:pt>
                  <c:pt idx="2">
                    <c:v>PML</c:v>
                  </c:pt>
                  <c:pt idx="3">
                    <c:v>TMP</c:v>
                  </c:pt>
                  <c:pt idx="4">
                    <c:v>BTU</c:v>
                  </c:pt>
                  <c:pt idx="5">
                    <c:v>HIB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42E"/>
                  </a:solidFill>
                  <a:latin typeface="+mn-lt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0E3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9525" cap="flat">
              <a:solidFill>
                <a:srgbClr val="E3EA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A5C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4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42E"/>
                </a:solidFill>
                <a:latin typeface="+mn-lt"/>
              </a:rPr>
              <a:t>Show up trial per center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Agustus</c:v>
                </c:pt>
              </c:strCache>
            </c:strRef>
          </c:tx>
          <c:spPr>
            <a:solidFill>
              <a:srgbClr val="A9CD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KLM</c:v>
                  </c:pt>
                  <c:pt idx="1">
                    <c:v>KWC</c:v>
                  </c:pt>
                  <c:pt idx="2">
                    <c:v>PML</c:v>
                  </c:pt>
                  <c:pt idx="3">
                    <c:v>TMP</c:v>
                  </c:pt>
                  <c:pt idx="4">
                    <c:v>BTU</c:v>
                  </c:pt>
                  <c:pt idx="5">
                    <c:v>HIB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294</c:v>
                </c:pt>
                <c:pt idx="1">
                  <c:v>234</c:v>
                </c:pt>
                <c:pt idx="2">
                  <c:v>230</c:v>
                </c:pt>
                <c:pt idx="3">
                  <c:v>225</c:v>
                </c:pt>
                <c:pt idx="4">
                  <c:v>268</c:v>
                </c:pt>
                <c:pt idx="5">
                  <c:v>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</c:v>
                </c:pt>
              </c:strCache>
            </c:strRef>
          </c:tx>
          <c:spPr>
            <a:solidFill>
              <a:srgbClr val="0B64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KLM</c:v>
                  </c:pt>
                  <c:pt idx="1">
                    <c:v>KWC</c:v>
                  </c:pt>
                  <c:pt idx="2">
                    <c:v>PML</c:v>
                  </c:pt>
                  <c:pt idx="3">
                    <c:v>TMP</c:v>
                  </c:pt>
                  <c:pt idx="4">
                    <c:v>BTU</c:v>
                  </c:pt>
                  <c:pt idx="5">
                    <c:v>HIB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187</c:v>
                </c:pt>
                <c:pt idx="1">
                  <c:v>178</c:v>
                </c:pt>
                <c:pt idx="2">
                  <c:v>130</c:v>
                </c:pt>
                <c:pt idx="3">
                  <c:v>113</c:v>
                </c:pt>
                <c:pt idx="4">
                  <c:v>184</c:v>
                </c:pt>
                <c:pt idx="5">
                  <c:v>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4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0E3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9525" cap="flat">
              <a:solidFill>
                <a:srgbClr val="E3EA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A5C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4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42E"/>
                </a:solidFill>
                <a:latin typeface="+mn-lt"/>
              </a:rPr>
              <a:t>Top 5 alasan Show Up Not Paid (kasus)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Kasus SUNP</c:v>
                </c:pt>
              </c:strCache>
            </c:strRef>
          </c:tx>
          <c:spPr>
            <a:solidFill>
              <a:srgbClr val="0B64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Diskusi dengan keluarga</c:v>
                  </c:pt>
                  <c:pt idx="1">
                    <c:v>Harga / kemahalan</c:v>
                  </c:pt>
                  <c:pt idx="2">
                    <c:v>Jadwal kelas tidak cocok</c:v>
                  </c:pt>
                  <c:pt idx="3">
                    <c:v>Tidak tertarik / coba saja</c:v>
                  </c:pt>
                  <c:pt idx="4">
                    <c:v>Rumah jauh / out of area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100</c:v>
                </c:pt>
                <c:pt idx="2">
                  <c:v>95</c:v>
                </c:pt>
                <c:pt idx="3">
                  <c:v>73</c:v>
                </c:pt>
                <c:pt idx="4">
                  <c:v>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324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E0E3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4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3242E"/>
                </a:solidFill>
                <a:latin typeface="+mn-lt"/>
              </a:rPr>
              <a:t>Revenue per FP September (Rp jt) · center baru oranye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per FP</c:v>
                </c:pt>
              </c:strCache>
            </c:strRef>
          </c:tx>
          <c:spPr>
            <a:solidFill>
              <a:srgbClr val="0B647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64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64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64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9B2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9B2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39B2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KLM</c:v>
                  </c:pt>
                  <c:pt idx="1">
                    <c:v>KWC</c:v>
                  </c:pt>
                  <c:pt idx="2">
                    <c:v>PML</c:v>
                  </c:pt>
                  <c:pt idx="3">
                    <c:v>TMP</c:v>
                  </c:pt>
                  <c:pt idx="4">
                    <c:v>BTU</c:v>
                  </c:pt>
                  <c:pt idx="5">
                    <c:v>HIB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7.5</c:v>
                </c:pt>
                <c:pt idx="2">
                  <c:v>7.4</c:v>
                </c:pt>
                <c:pt idx="3">
                  <c:v>5.1</c:v>
                </c:pt>
                <c:pt idx="4">
                  <c:v>4.6</c:v>
                </c:pt>
                <c:pt idx="5">
                  <c:v>4.9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324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0E3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24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3242E"/>
                </a:solidFill>
                <a:latin typeface="+mn-lt"/>
              </a:rPr>
              <a:t>Utilisasi kelas reguler (kursi terisi ÷ kapasitas)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Utilisasi</c:v>
                </c:pt>
              </c:strCache>
            </c:strRef>
          </c:tx>
          <c:spPr>
            <a:solidFill>
              <a:srgbClr val="0B6475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4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64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64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64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9B2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9B2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39B2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KLM</c:v>
                  </c:pt>
                  <c:pt idx="1">
                    <c:v>KWC</c:v>
                  </c:pt>
                  <c:pt idx="2">
                    <c:v>PML</c:v>
                  </c:pt>
                  <c:pt idx="3">
                    <c:v>TMP</c:v>
                  </c:pt>
                  <c:pt idx="4">
                    <c:v>BTU</c:v>
                  </c:pt>
                  <c:pt idx="5">
                    <c:v>HIB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0.589</c:v>
                </c:pt>
                <c:pt idx="1">
                  <c:v>0.382</c:v>
                </c:pt>
                <c:pt idx="2">
                  <c:v>0.387</c:v>
                </c:pt>
                <c:pt idx="3">
                  <c:v>0.08800000000000001</c:v>
                </c:pt>
                <c:pt idx="4">
                  <c:v>0.10400000000000001</c:v>
                </c:pt>
                <c:pt idx="5">
                  <c:v>0.098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200" u="none">
                  <a:solidFill>
                    <a:srgbClr val="1324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0E3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9525" cap="flat">
              <a:solidFill>
                <a:srgbClr val="E3EA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C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Pembuka. Hari ini kita review September: apa yang terjadi, center mana yang perlu improvement, strategi yang akan kita jalankan, lalu tiap CM menyepakati komitmen Oktober. Angka utama: revenue area Rp 2,45 M = 68% dari target Rp 3,6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sesuai alur meeting: (1) fakta September, (2) center yang perlu improvement, (3) strategi, (4) komitmen tiap center. Komitmen di bagian 4 adalah draft; angkanya kita sepakati bersama di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Pesan utama September: (1) volume turun tajam, show up -36% dan leads -35% vs Agustus, sebagian karena efek grand opening 3 center baru sudah habis; (2) kualitas closing justru membaik, CVR naik 6,7 pp ke 41,4%; (3) uang belum masuk penuh, FP progress 72% dan 115 murid masih DP. Hasilnya revenue Rp 2,45 M, 68% dari target, gap Rp 1,15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KLM 109% dan jadi Center of the Month. KWC 79%, HIB 67%, BTU 66%, PML 52%, TMP 37%. Gap per center ke Rp 600 jt: KWC -127, PML -289, TMP -379, BTU -207, HIB -197 (Rp jt). HIB satu-satunya yang revenue-nya naik dari Agustus.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up turun di semua center: TMP -50%, PML -43%, KLM -36%, BTU -31%, HIB -31%, KWC -24%. Show-up rate area stabil 49%, CVR naik ke 41,4%. Artinya tim SA closing lebih baik; yang kurang adalah volume leads yang masuk. Ini jadi Strategi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SUNP = Show Up Not Paid. Lima alasan ini 66% dari 708 kasus. Dua pola penting: (1) 'diskusi dengan keluarga' = pengambil keputusan tidak ikut trial, paling banyak di HIB; (2) 'jadwal tidak cocok' 50 dari 95 kasus ada di BTU, padahal utilisasi BTU baru 10% — jamnya yang belum pas. Playbook jawabannya ada di Strategi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Sebelum masuk ke yang perlu diperbaiki, apresiasi dulu. KLM Center of the Month. Agung (HIB) SA of the Month. TMP punya CVR tertinggi, HIB satu-satunya yang revenue-nya naik, BTU paling banyak full payment. Praktik baik ini yang kita replikasi ke center 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Baca per baris. TMP merah di hampir semua kolom kecuali CVR. PML merah di revenue dan volume. KWC tertahan di FP progress 61%. BTU dan HIB kuning: BTU bocor di jadwal, HIB bocor di CVR. KLM hijau di revenue dan FP progress tapi volumenya juga turun 36%.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Prioritas 1: TMP dan PML, gap terbesar (Rp 379 jt dan Rp 289 jt) dan masalahnya di lebih dari satu titik funnel. Prioritas 2: KWC, BTU, HIB, masing-masing punya satu kebocoran utama yang jelas. KLM tetap dijaga karena volumenya juga turun.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Kerangka strategi: revenue digerakkan oleh lima tuas berurutan. September kita kuat di CVR tapi lemah di volume dan pelunasan. Target Oktober Rp 3,6 M butuh semua tuas naik: leads ke ±2.675, show-up rate 50%, CVR 45%, FP progress minimal 81%, dan paket yang lebih panjang supaya revenue per FP naik.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adalah tuas terbesar. Total leads perlu naik dari 2.016 ke sekitar 2.675, masih di bawah Agustus (3.097). Empat aksi: aktivasi lokal, referral di setiap closing, konfirmasi H-1/H-0 untuk jaga show-up rate, dan reaktivasi pool SUNP. Plus satu permintaan ke Marketing untuk geser budget ads ke TMP dan PML.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Setiap alasan SUNP punya jawaban standar. Yang paling besar dampaknya: 'diskusi keluarga' (131 kasus), bisa dicegah sejak booking dengan memastikan pengambil keputusan hadir. Untuk harga, jual value dulu baru angka; cicilan Indodana menjawab keberatan cashflow tanpa menurunkan harga. Untuk jadwal, solusinya di slot map, bukan di pitching.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hal: pelunasan dan ukuran paket. 115 murid closing dengan DP; kalau 60% lunas sebelum 20 Okt itu sekitar 69 FP tambahan. Cicilan Indodana membuat closing bisa langsung FP. Lalu ukuran paket: revenue per FP center baru Rp 4,6–5,1 jt, center matang Rp 7,4–9,0 jt. Pitch selalu mulai dari Advanced 12 bulan (Rp 9,35 jt, 6+6 gratis).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Kapasitas bukan hambatan: ada 7.426 kursi kosong dan 1.105 kelas yang sudah punya age group dan coach tapi 0 murid. Masalahnya kecocokan jam. Slot map meeting tiap Senin memutuskan kelas mana yang dijual minggu itu, dan jam yang diminta parents di SUNP 'jadwal' jadi input utamanya.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dasar draft komitmen. Langkahnya: berapa FP yang dibutuhkan untuk Rp 600 jt dengan ukuran paket September; kurangi yang bisa didapat dari pool DP (asumsi 60% lunas) dan pool SUNP (asumsi 10% closing); sisanya harus dari trial baru, dibagi target CVR dan FP progress. Hasilnya: KLM dan KWC aman dengan volume September, PML dan 3 center baru harus menaikkan show up. Kalau ukuran paket naik 20%, kebutuhan FP center baru turun sekitar 17%.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KLM (Kalimalang). September: revenue Rp 651 jt (109% target), show up 187, CVR 39,6%, FP progress 89,2%, 8 DP belum lunas, 142 SUNP. Draft komitmen Oktober: leads 405, show up 190, CVR 45%, FP progress 90%, FP minimal 72, revenue minimal Rp 600 jt. Minta CM konfirmasi atau revisi angka dan PIC tiap aksi di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KWC (Karawaci). September: revenue Rp 473 jt (79% target), show up 178, CVR 39,3%, FP progress 61,4%, 27 DP belum lunas, 107 SUNP. Draft komitmen Oktober: leads 375, show up 180, CVR 45%, FP progress 75%, FP minimal 80, revenue minimal Rp 600 jt. Minta CM konfirmasi atau revisi angka dan PIC tiap aksi di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PML (Pamulang). September: revenue Rp 311 jt (52% target), show up 130, CVR 37,7%, FP progress 73,5%, 13 DP belum lunas, 93 SUNP. Draft komitmen Oktober: leads 370, show up 190, CVR 43%, FP progress 80%, FP minimal 82, revenue minimal Rp 600 jt. Minta CM konfirmasi atau revisi angka dan PIC tiap aksi di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TMP (Taman Palem). September: revenue Rp 221 jt (37% target), show up 113, CVR 54,9%, FP progress 43,5%, 35 DP belum lunas, 75 SUNP. Draft komitmen Oktober: leads 460, show up 230, CVR 55%, FP progress 70%, FP minimal 117, revenue minimal Rp 600 jt. Minta CM konfirmasi atau revisi angka dan PIC tiap aksi di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BTU (Bintaro U-Town). September: revenue Rp 393 jt (66% target), show up 184, CVR 44,6%, FP progress 79,3%, 17 DP belum lunas, 135 SUNP. Draft komitmen Oktober: leads 565, show up 270, CVR 47%, FP progress 85%, FP minimal 130, revenue minimal Rp 600 jt. Minta CM konfirmasi atau revisi angka dan PIC tiap aksi di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HIB (Harapan Indah). September: revenue Rp 403 jt (67% target), show up 201, CVR 36,8%, FP progress 79,7%, 15 DP belum lunas, 156 SUNP. Draft komitmen Oktober: leads 500, show up 275, CVR 42%, FP progress 85%, FP minimal 123, revenue minimal Rp 600 jt. Minta CM konfirmasi atau revisi angka dan PIC tiap aksi di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Ringkasan seluruh draft komitmen dalam satu tabel. Di meeting, tiap CM menyatakan setuju atau mengusulkan revisi, lalu kolom konfirmasi diisi. Total: leads sekitar 2.675, show up 1.335, FP minimal 604, revenue Rp 3,6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Komitmen hanya jalan kalau dimonitor. Harian CM cek tiga angka di tracker. Tiap Senin ada slot map meeting dengan Senior Coach dan SA League Weekly. Checkpoint utama 15 Oktober: revenue minimal 50% target; center di bawah 40% menyusun action plan bersama Area Manager. 20 Oktober batas pelunasan 60% DP September.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 Satu target: Rp 3,6 M, Rp 600 jt per center. Empat strategi: volume, closing, cash &amp; ticket, kapasitas. Langkah berikutnya: CM konfirmasi komitmen H+1, checkpoint 15 Oktober.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83080"/>
            <a:ext cx="69494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Monthly Review September 2026 · Center Manager Meeting · Sparks Swim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image" Target="../media/image-14-3.png"/><Relationship Id="rId5" Type="http://schemas.openxmlformats.org/officeDocument/2006/relationships/image" Target="../media/image-14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258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MONTHLY REVIEW · CENTER MANAGER MEETING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78308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Achievement September 2026 &amp; Komitmen Oktober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4290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Apa yang terjadi, center mana yang perlu improvement, strategi kita, dan komitmen per center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120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</a:rPr>
              <a:t>KLM · KWC · PML · TMP · BTU · HIB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532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Data per 4 Oktober 2026 · sumber Exboard</a:t>
            </a:r>
            <a:endParaRPr lang="en-US" sz="1400" dirty="0"/>
          </a:p>
        </p:txBody>
      </p:sp>
      <p:graphicFrame>
        <p:nvGraphicFramePr>
          <p:cNvPr id="7" name="donut-pencapaian" descr="Revenue area 68% dari target"/>
          <p:cNvGraphicFramePr/>
          <p:nvPr/>
        </p:nvGraphicFramePr>
        <p:xfrm>
          <a:off x="7818120" y="1234440"/>
          <a:ext cx="3840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366760" y="2514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68%</a:t>
            </a:r>
            <a:endParaRPr lang="en-US" sz="6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dari target area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5166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Rp 2,45 M dari Rp 3,6 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Empat hal yang kita bahas hari ini</a:t>
            </a:r>
            <a:endParaRPr lang="en-US" sz="3200" dirty="0"/>
          </a:p>
        </p:txBody>
      </p:sp>
      <p:sp>
        <p:nvSpPr>
          <p:cNvPr id="4" name="card-1"/>
          <p:cNvSpPr/>
          <p:nvPr/>
        </p:nvSpPr>
        <p:spPr>
          <a:xfrm>
            <a:off x="548640" y="1783080"/>
            <a:ext cx="2567864" cy="39319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5" name="icon-bg-2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3" descr="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2631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7784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01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Apa yang terjadi di September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Revenue, funnel, alasan belum closing, dan yang berjalan baik</a:t>
            </a:r>
            <a:endParaRPr lang="en-US" sz="1400" dirty="0"/>
          </a:p>
        </p:txBody>
      </p:sp>
      <p:sp>
        <p:nvSpPr>
          <p:cNvPr id="10" name="card-4"/>
          <p:cNvSpPr/>
          <p:nvPr/>
        </p:nvSpPr>
        <p:spPr>
          <a:xfrm>
            <a:off x="3390824" y="1783080"/>
            <a:ext cx="2567864" cy="39319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11" name="icon-bg-5"/>
          <p:cNvSpPr/>
          <p:nvPr/>
        </p:nvSpPr>
        <p:spPr>
          <a:xfrm>
            <a:off x="3665144" y="21031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con-6" descr="ExclamationTriang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164" y="22631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9968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02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3665144" y="301752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Center yang perlu improvement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665144" y="43434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Scorecard per center dan urutan prioritasnya</a:t>
            </a:r>
            <a:endParaRPr lang="en-US" sz="1400" dirty="0"/>
          </a:p>
        </p:txBody>
      </p:sp>
      <p:sp>
        <p:nvSpPr>
          <p:cNvPr id="16" name="card-7"/>
          <p:cNvSpPr/>
          <p:nvPr/>
        </p:nvSpPr>
        <p:spPr>
          <a:xfrm>
            <a:off x="6233008" y="1783080"/>
            <a:ext cx="2567864" cy="39319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17" name="icon-bg-8"/>
          <p:cNvSpPr/>
          <p:nvPr/>
        </p:nvSpPr>
        <p:spPr>
          <a:xfrm>
            <a:off x="6507328" y="2103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-9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348" y="2263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612151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03</a:t>
            </a:r>
            <a:endParaRPr lang="en-US" sz="4000" dirty="0"/>
          </a:p>
        </p:txBody>
      </p:sp>
      <p:sp>
        <p:nvSpPr>
          <p:cNvPr id="20" name="Text 15"/>
          <p:cNvSpPr txBox="1"/>
          <p:nvPr/>
        </p:nvSpPr>
        <p:spPr>
          <a:xfrm>
            <a:off x="6507328" y="301752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Apa yang akan kita lakukan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507328" y="43434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Deep dive strategi: volume, closing, cash &amp; ticket, kapasitas</a:t>
            </a:r>
            <a:endParaRPr lang="en-US" sz="1400" dirty="0"/>
          </a:p>
        </p:txBody>
      </p:sp>
      <p:sp>
        <p:nvSpPr>
          <p:cNvPr id="22" name="card-10"/>
          <p:cNvSpPr/>
          <p:nvPr/>
        </p:nvSpPr>
        <p:spPr>
          <a:xfrm>
            <a:off x="9075191" y="1783080"/>
            <a:ext cx="2567864" cy="39319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/>
        </p:spPr>
      </p:sp>
      <p:sp>
        <p:nvSpPr>
          <p:cNvPr id="23" name="icon-bg-11"/>
          <p:cNvSpPr/>
          <p:nvPr/>
        </p:nvSpPr>
        <p:spPr>
          <a:xfrm>
            <a:off x="9349511" y="2103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-12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531" y="226314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454335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04</a:t>
            </a:r>
            <a:endParaRPr lang="en-US" sz="4000" dirty="0"/>
          </a:p>
        </p:txBody>
      </p:sp>
      <p:sp>
        <p:nvSpPr>
          <p:cNvPr id="26" name="Text 20"/>
          <p:cNvSpPr txBox="1"/>
          <p:nvPr/>
        </p:nvSpPr>
        <p:spPr>
          <a:xfrm>
            <a:off x="9349511" y="301752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Komitmen per center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9349511" y="43434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Target Oktober Rp 600 jt per center dan 3 aksi utama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· APA YANG TERJADI DI SEPTEMBER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Volume turun, closing membaik, uang belum lunas</a:t>
            </a:r>
            <a:endParaRPr lang="en-US" sz="3200" dirty="0"/>
          </a:p>
        </p:txBody>
      </p:sp>
      <p:sp>
        <p:nvSpPr>
          <p:cNvPr id="4" name="card-13"/>
          <p:cNvSpPr/>
          <p:nvPr/>
        </p:nvSpPr>
        <p:spPr>
          <a:xfrm>
            <a:off x="548640" y="155448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1777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REVENUE AREA</a:t>
            </a:r>
            <a:endParaRPr lang="en-US" sz="1200" dirty="0"/>
          </a:p>
        </p:txBody>
      </p:sp>
      <p:sp>
        <p:nvSpPr>
          <p:cNvPr id="6" name="chip-14"/>
          <p:cNvSpPr txBox="1"/>
          <p:nvPr/>
        </p:nvSpPr>
        <p:spPr>
          <a:xfrm>
            <a:off x="2646578" y="173736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68% target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Rp 2,45 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68% dari target Rp 3,6 M · ▼ 10% vs Agustus</a:t>
            </a:r>
            <a:endParaRPr lang="en-US" sz="1400" dirty="0"/>
          </a:p>
        </p:txBody>
      </p:sp>
      <p:sp>
        <p:nvSpPr>
          <p:cNvPr id="9" name="card-15"/>
          <p:cNvSpPr/>
          <p:nvPr/>
        </p:nvSpPr>
        <p:spPr>
          <a:xfrm>
            <a:off x="4338218" y="155448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6818" y="1737360"/>
            <a:ext cx="1777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GAP KE TARGET</a:t>
            </a:r>
            <a:endParaRPr lang="en-US" sz="1200" dirty="0"/>
          </a:p>
        </p:txBody>
      </p:sp>
      <p:sp>
        <p:nvSpPr>
          <p:cNvPr id="11" name="chip-16"/>
          <p:cNvSpPr txBox="1"/>
          <p:nvPr/>
        </p:nvSpPr>
        <p:spPr>
          <a:xfrm>
            <a:off x="6436157" y="173736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Gap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66818" y="2011680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– Rp 1.148 jt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2697480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Gap terbesar di TMP (Rp 379 jt) dan PML (Rp 289 jt)</a:t>
            </a:r>
            <a:endParaRPr lang="en-US" sz="1400" dirty="0"/>
          </a:p>
        </p:txBody>
      </p:sp>
      <p:sp>
        <p:nvSpPr>
          <p:cNvPr id="14" name="card-17"/>
          <p:cNvSpPr/>
          <p:nvPr/>
        </p:nvSpPr>
        <p:spPr>
          <a:xfrm>
            <a:off x="8127797" y="155448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56397" y="1737360"/>
            <a:ext cx="1777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CENTER ≥ TARGET</a:t>
            </a:r>
            <a:endParaRPr lang="en-US" sz="1200" dirty="0"/>
          </a:p>
        </p:txBody>
      </p:sp>
      <p:sp>
        <p:nvSpPr>
          <p:cNvPr id="16" name="chip-18"/>
          <p:cNvSpPr txBox="1"/>
          <p:nvPr/>
        </p:nvSpPr>
        <p:spPr>
          <a:xfrm>
            <a:off x="10225735" y="173736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Perlu naik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56397" y="2011680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 dari 6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356397" y="2697480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KLM (109%). Center lain antara 37% dan 79%</a:t>
            </a:r>
            <a:endParaRPr lang="en-US" sz="1400" dirty="0"/>
          </a:p>
        </p:txBody>
      </p:sp>
      <p:sp>
        <p:nvSpPr>
          <p:cNvPr id="19" name="card-19"/>
          <p:cNvSpPr/>
          <p:nvPr/>
        </p:nvSpPr>
        <p:spPr>
          <a:xfrm>
            <a:off x="548640" y="352044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703320"/>
            <a:ext cx="1777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SHOW UP TRIAL</a:t>
            </a:r>
            <a:endParaRPr lang="en-US" sz="1200" dirty="0"/>
          </a:p>
        </p:txBody>
      </p:sp>
      <p:sp>
        <p:nvSpPr>
          <p:cNvPr id="21" name="chip-20"/>
          <p:cNvSpPr txBox="1"/>
          <p:nvPr/>
        </p:nvSpPr>
        <p:spPr>
          <a:xfrm>
            <a:off x="2646578" y="37033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Volume turun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3977640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993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663440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▼ 36% vs Agustus (1.543). Leads ▼ 35%</a:t>
            </a:r>
            <a:endParaRPr lang="en-US" sz="1400" dirty="0"/>
          </a:p>
        </p:txBody>
      </p:sp>
      <p:sp>
        <p:nvSpPr>
          <p:cNvPr id="24" name="card-21"/>
          <p:cNvSpPr/>
          <p:nvPr/>
        </p:nvSpPr>
        <p:spPr>
          <a:xfrm>
            <a:off x="4338218" y="352044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6818" y="3703320"/>
            <a:ext cx="1777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CVR SU → PAID</a:t>
            </a:r>
            <a:endParaRPr lang="en-US" sz="1200" dirty="0"/>
          </a:p>
        </p:txBody>
      </p:sp>
      <p:sp>
        <p:nvSpPr>
          <p:cNvPr id="26" name="chip-22"/>
          <p:cNvSpPr txBox="1"/>
          <p:nvPr/>
        </p:nvSpPr>
        <p:spPr>
          <a:xfrm>
            <a:off x="6436157" y="37033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Membaik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66818" y="3977640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41,4%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4566818" y="4663440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▲ 6,7 pp vs Agustus · target 45%</a:t>
            </a:r>
            <a:endParaRPr lang="en-US" sz="1400" dirty="0"/>
          </a:p>
        </p:txBody>
      </p:sp>
      <p:sp>
        <p:nvSpPr>
          <p:cNvPr id="29" name="card-23"/>
          <p:cNvSpPr/>
          <p:nvPr/>
        </p:nvSpPr>
        <p:spPr>
          <a:xfrm>
            <a:off x="8127797" y="3520440"/>
            <a:ext cx="351525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56397" y="3703320"/>
            <a:ext cx="1777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FP PROGRESS</a:t>
            </a:r>
            <a:endParaRPr lang="en-US" sz="1200" dirty="0"/>
          </a:p>
        </p:txBody>
      </p:sp>
      <p:sp>
        <p:nvSpPr>
          <p:cNvPr id="31" name="chip-24"/>
          <p:cNvSpPr txBox="1"/>
          <p:nvPr/>
        </p:nvSpPr>
        <p:spPr>
          <a:xfrm>
            <a:off x="10225735" y="370332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Belum sehat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56397" y="3977640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72,0%</a:t>
            </a:r>
            <a:endParaRPr lang="en-US" sz="3400" dirty="0"/>
          </a:p>
        </p:txBody>
      </p:sp>
      <p:sp>
        <p:nvSpPr>
          <p:cNvPr id="33" name="Text 31"/>
          <p:cNvSpPr txBox="1"/>
          <p:nvPr/>
        </p:nvSpPr>
        <p:spPr>
          <a:xfrm>
            <a:off x="8356397" y="4663440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▲ 1,4 pp · ambang sehat 85% · 115 DP belum lunas</a:t>
            </a:r>
            <a:endParaRPr lang="en-US" sz="1400" dirty="0"/>
          </a:p>
        </p:txBody>
      </p:sp>
      <p:sp>
        <p:nvSpPr>
          <p:cNvPr id="34" name="card-25"/>
          <p:cNvSpPr/>
          <p:nvPr/>
        </p:nvSpPr>
        <p:spPr>
          <a:xfrm>
            <a:off x="548640" y="5468112"/>
            <a:ext cx="11094415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468112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Konteks: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TMP, BTU, HIB baru bulan ke-2 setelah grand opening (11–12 Agt).</a:t>
            </a:r>
            <a:endParaRPr lang="en-US" sz="1400" dirty="0"/>
          </a:p>
        </p:txBody>
      </p:sp>
      <p:sp>
        <p:nvSpPr>
          <p:cNvPr id="36" name="source-26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Sumber: Exboard › 02 Acquisition (deck SA League September), data per 4 Okt 2026. Agustus: Center Performance Agustus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· APA YANG TERJADI DI SEPTEMBER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Hanya KLM yang tembus target Rp 600 jt</a:t>
            </a:r>
            <a:endParaRPr lang="en-US" sz="3200" dirty="0"/>
          </a:p>
        </p:txBody>
      </p:sp>
      <p:graphicFrame>
        <p:nvGraphicFramePr>
          <p:cNvPr id="4" name="chart-revenue" descr=""/>
          <p:cNvGraphicFramePr/>
          <p:nvPr/>
        </p:nvGraphicFramePr>
        <p:xfrm>
          <a:off x="548640" y="1508760"/>
          <a:ext cx="69494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-revenu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600200"/>
          <a:ext cx="38679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78992"/>
                <a:gridCol w="91440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Center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 (Rp jt)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target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 vs Agt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KLM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109%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▼ 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KWC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79%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23%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52%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17%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TMP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37%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BTU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66%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● 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HIB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67%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▲ 24%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2.452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68%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▼ 10%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772400" y="5120640"/>
            <a:ext cx="3867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HIB satu-satunya yang tumbuh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(▲24%). TMP turun paling dalam (▼33%) dan paling jauh dari target.</a:t>
            </a:r>
            <a:endParaRPr lang="en-US" sz="1400" dirty="0"/>
          </a:p>
        </p:txBody>
      </p:sp>
      <p:sp>
        <p:nvSpPr>
          <p:cNvPr id="7" name="source-27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Target September Rp 600 jt per center (total Rp 3,6 M). Sumber: Exboard › 02 Acquisition (per 4 Okt 2026); Agustus: Center Performance.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· APA YANG TERJADI DI SEPTEMBER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Masalah utama di volume: show up turun 36%</a:t>
            </a:r>
            <a:endParaRPr lang="en-US" sz="3200" dirty="0"/>
          </a:p>
        </p:txBody>
      </p:sp>
      <p:graphicFrame>
        <p:nvGraphicFramePr>
          <p:cNvPr id="4" name="chart-showup" descr=""/>
          <p:cNvGraphicFramePr/>
          <p:nvPr/>
        </p:nvGraphicFramePr>
        <p:xfrm>
          <a:off x="548640" y="1508760"/>
          <a:ext cx="65836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6002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FUNNEL AREA · AGT → SEP</a:t>
            </a:r>
            <a:endParaRPr lang="en-US" sz="1200" dirty="0"/>
          </a:p>
        </p:txBody>
      </p:sp>
      <p:sp>
        <p:nvSpPr>
          <p:cNvPr id="6" name="card-28"/>
          <p:cNvSpPr/>
          <p:nvPr/>
        </p:nvSpPr>
        <p:spPr>
          <a:xfrm>
            <a:off x="7406640" y="1965960"/>
            <a:ext cx="4236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89520" y="1965960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Leads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1965960"/>
            <a:ext cx="1783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3.097 → 2.016</a:t>
            </a:r>
            <a:endParaRPr lang="en-US" sz="1400" dirty="0"/>
          </a:p>
        </p:txBody>
      </p:sp>
      <p:sp>
        <p:nvSpPr>
          <p:cNvPr id="9" name="chip-29"/>
          <p:cNvSpPr txBox="1"/>
          <p:nvPr/>
        </p:nvSpPr>
        <p:spPr>
          <a:xfrm>
            <a:off x="10591495" y="213055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35%</a:t>
            </a:r>
            <a:endParaRPr lang="en-US" sz="1100" dirty="0"/>
          </a:p>
        </p:txBody>
      </p:sp>
      <p:sp>
        <p:nvSpPr>
          <p:cNvPr id="10" name="card-30"/>
          <p:cNvSpPr/>
          <p:nvPr/>
        </p:nvSpPr>
        <p:spPr>
          <a:xfrm>
            <a:off x="7406640" y="2679192"/>
            <a:ext cx="4236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589520" y="2679192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Show up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679192"/>
            <a:ext cx="1783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1.543 → 993</a:t>
            </a:r>
            <a:endParaRPr lang="en-US" sz="1400" dirty="0"/>
          </a:p>
        </p:txBody>
      </p:sp>
      <p:sp>
        <p:nvSpPr>
          <p:cNvPr id="13" name="chip-31"/>
          <p:cNvSpPr txBox="1"/>
          <p:nvPr/>
        </p:nvSpPr>
        <p:spPr>
          <a:xfrm>
            <a:off x="10591495" y="284378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36%</a:t>
            </a:r>
            <a:endParaRPr lang="en-US" sz="1100" dirty="0"/>
          </a:p>
        </p:txBody>
      </p:sp>
      <p:sp>
        <p:nvSpPr>
          <p:cNvPr id="14" name="card-32"/>
          <p:cNvSpPr/>
          <p:nvPr/>
        </p:nvSpPr>
        <p:spPr>
          <a:xfrm>
            <a:off x="7406640" y="3392424"/>
            <a:ext cx="4236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589520" y="3392424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Paid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32520" y="3392424"/>
            <a:ext cx="1783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532 → 411</a:t>
            </a:r>
            <a:endParaRPr lang="en-US" sz="1400" dirty="0"/>
          </a:p>
        </p:txBody>
      </p:sp>
      <p:sp>
        <p:nvSpPr>
          <p:cNvPr id="17" name="chip-33"/>
          <p:cNvSpPr txBox="1"/>
          <p:nvPr/>
        </p:nvSpPr>
        <p:spPr>
          <a:xfrm>
            <a:off x="10591495" y="355701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▼ 23%</a:t>
            </a:r>
            <a:endParaRPr lang="en-US" sz="1100" dirty="0"/>
          </a:p>
        </p:txBody>
      </p:sp>
      <p:sp>
        <p:nvSpPr>
          <p:cNvPr id="18" name="card-34"/>
          <p:cNvSpPr/>
          <p:nvPr/>
        </p:nvSpPr>
        <p:spPr>
          <a:xfrm>
            <a:off x="7406640" y="4105656"/>
            <a:ext cx="4236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589520" y="4105656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CVR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732520" y="4105656"/>
            <a:ext cx="1783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34,7% → 41,4%</a:t>
            </a:r>
            <a:endParaRPr lang="en-US" sz="1400" dirty="0"/>
          </a:p>
        </p:txBody>
      </p:sp>
      <p:sp>
        <p:nvSpPr>
          <p:cNvPr id="21" name="chip-35"/>
          <p:cNvSpPr txBox="1"/>
          <p:nvPr/>
        </p:nvSpPr>
        <p:spPr>
          <a:xfrm>
            <a:off x="10591495" y="4270248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▲ 6,7 pp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406640" y="4846320"/>
            <a:ext cx="4236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Rasio stabil, jumlahnya yang hilang.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Show-up rate tetap ±49% dan CVR naik. Revenue turun karena makin sedikit orang yang masuk funnel.</a:t>
            </a:r>
            <a:endParaRPr lang="en-US" sz="1400" dirty="0"/>
          </a:p>
        </p:txBody>
      </p:sp>
      <p:sp>
        <p:nvSpPr>
          <p:cNvPr id="23" name="source-36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Paid = DP + FP. CVR = total paid ÷ show up. Sumber: Exboard › 02 Acquisition (per 4 Okt 2026); Agustus: Center Performance Agustus.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· APA YANG TERJADI DI SEPTEMBER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708 trial belum closing, 2/3 karena 5 alasan</a:t>
            </a:r>
            <a:endParaRPr lang="en-US" sz="3200" dirty="0"/>
          </a:p>
        </p:txBody>
      </p:sp>
      <p:graphicFrame>
        <p:nvGraphicFramePr>
          <p:cNvPr id="4" name="chart-sunp" descr=""/>
          <p:cNvGraphicFramePr/>
          <p:nvPr/>
        </p:nvGraphicFramePr>
        <p:xfrm>
          <a:off x="548640" y="1508760"/>
          <a:ext cx="65836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6002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ALASAN #1 PER CENTER</a:t>
            </a:r>
            <a:endParaRPr lang="en-US" sz="1200" dirty="0"/>
          </a:p>
        </p:txBody>
      </p:sp>
      <p:sp>
        <p:nvSpPr>
          <p:cNvPr id="6" name="card-37"/>
          <p:cNvSpPr/>
          <p:nvPr/>
        </p:nvSpPr>
        <p:spPr>
          <a:xfrm>
            <a:off x="7406640" y="1965960"/>
            <a:ext cx="4236415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/>
        </p:spPr>
      </p:sp>
      <p:sp>
        <p:nvSpPr>
          <p:cNvPr id="7" name="chip-38"/>
          <p:cNvSpPr txBox="1"/>
          <p:nvPr/>
        </p:nvSpPr>
        <p:spPr>
          <a:xfrm>
            <a:off x="7543800" y="2066544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KLM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1965960"/>
            <a:ext cx="2636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Diskusi keluarga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002975" y="196596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142</a:t>
            </a:r>
            <a:endParaRPr lang="en-US" sz="1400" dirty="0"/>
          </a:p>
        </p:txBody>
      </p:sp>
      <p:sp>
        <p:nvSpPr>
          <p:cNvPr id="10" name="card-39"/>
          <p:cNvSpPr/>
          <p:nvPr/>
        </p:nvSpPr>
        <p:spPr>
          <a:xfrm>
            <a:off x="7406640" y="2532888"/>
            <a:ext cx="4236415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/>
        </p:spPr>
      </p:sp>
      <p:sp>
        <p:nvSpPr>
          <p:cNvPr id="11" name="chip-40"/>
          <p:cNvSpPr txBox="1"/>
          <p:nvPr/>
        </p:nvSpPr>
        <p:spPr>
          <a:xfrm>
            <a:off x="7543800" y="2633472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KWC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532888"/>
            <a:ext cx="2636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Diskusi keluarga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002975" y="2532888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107</a:t>
            </a:r>
            <a:endParaRPr lang="en-US" sz="1400" dirty="0"/>
          </a:p>
        </p:txBody>
      </p:sp>
      <p:sp>
        <p:nvSpPr>
          <p:cNvPr id="14" name="card-41"/>
          <p:cNvSpPr/>
          <p:nvPr/>
        </p:nvSpPr>
        <p:spPr>
          <a:xfrm>
            <a:off x="7406640" y="3099816"/>
            <a:ext cx="4236415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/>
        </p:spPr>
      </p:sp>
      <p:sp>
        <p:nvSpPr>
          <p:cNvPr id="15" name="chip-42"/>
          <p:cNvSpPr txBox="1"/>
          <p:nvPr/>
        </p:nvSpPr>
        <p:spPr>
          <a:xfrm>
            <a:off x="7543800" y="320040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PML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3099816"/>
            <a:ext cx="2636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ingin coba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002975" y="3099816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93</a:t>
            </a:r>
            <a:endParaRPr lang="en-US" sz="1400" dirty="0"/>
          </a:p>
        </p:txBody>
      </p:sp>
      <p:sp>
        <p:nvSpPr>
          <p:cNvPr id="18" name="card-43"/>
          <p:cNvSpPr/>
          <p:nvPr/>
        </p:nvSpPr>
        <p:spPr>
          <a:xfrm>
            <a:off x="7406640" y="3666744"/>
            <a:ext cx="4236415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/>
        </p:spPr>
      </p:sp>
      <p:sp>
        <p:nvSpPr>
          <p:cNvPr id="19" name="chip-44"/>
          <p:cNvSpPr txBox="1"/>
          <p:nvPr/>
        </p:nvSpPr>
        <p:spPr>
          <a:xfrm>
            <a:off x="7543800" y="3767328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TMP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666744"/>
            <a:ext cx="2636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ingin coba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1002975" y="366674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75</a:t>
            </a:r>
            <a:endParaRPr lang="en-US" sz="1400" dirty="0"/>
          </a:p>
        </p:txBody>
      </p:sp>
      <p:sp>
        <p:nvSpPr>
          <p:cNvPr id="22" name="card-45"/>
          <p:cNvSpPr/>
          <p:nvPr/>
        </p:nvSpPr>
        <p:spPr>
          <a:xfrm>
            <a:off x="7406640" y="4233672"/>
            <a:ext cx="4236415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/>
        </p:spPr>
      </p:sp>
      <p:sp>
        <p:nvSpPr>
          <p:cNvPr id="23" name="chip-46"/>
          <p:cNvSpPr txBox="1"/>
          <p:nvPr/>
        </p:nvSpPr>
        <p:spPr>
          <a:xfrm>
            <a:off x="7543800" y="4334256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BTU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4233672"/>
            <a:ext cx="2636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Jadwal tidak cocok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002975" y="4233672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135</a:t>
            </a:r>
            <a:endParaRPr lang="en-US" sz="1400" dirty="0"/>
          </a:p>
        </p:txBody>
      </p:sp>
      <p:sp>
        <p:nvSpPr>
          <p:cNvPr id="26" name="card-47"/>
          <p:cNvSpPr/>
          <p:nvPr/>
        </p:nvSpPr>
        <p:spPr>
          <a:xfrm>
            <a:off x="7406640" y="4800600"/>
            <a:ext cx="4236415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/>
        </p:spPr>
      </p:sp>
      <p:sp>
        <p:nvSpPr>
          <p:cNvPr id="27" name="chip-48"/>
          <p:cNvSpPr txBox="1"/>
          <p:nvPr/>
        </p:nvSpPr>
        <p:spPr>
          <a:xfrm>
            <a:off x="7543800" y="4901184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HIB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4800600"/>
            <a:ext cx="2636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Diskusi keluarga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1002975" y="480060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156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406640" y="539496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Angka kanan = total SUNP center itu</a:t>
            </a:r>
            <a:endParaRPr lang="en-US" sz="1100" dirty="0"/>
          </a:p>
        </p:txBody>
      </p:sp>
      <p:sp>
        <p:nvSpPr>
          <p:cNvPr id="31" name="source-49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5 alasan = 66% dari 708 kasus. Terbanyak: keluarga → HIB (54) · harga → BTU (28) · jadwal → BTU (50) · jauh → KLM (18). Sumber: Exboard 02.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01 · APA YANG TERJADI DI SEPTEMBER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Yang berjalan baik di September</a:t>
            </a:r>
            <a:endParaRPr lang="en-US" sz="3200" dirty="0"/>
          </a:p>
        </p:txBody>
      </p:sp>
      <p:sp>
        <p:nvSpPr>
          <p:cNvPr id="4" name="card-50"/>
          <p:cNvSpPr/>
          <p:nvPr/>
        </p:nvSpPr>
        <p:spPr>
          <a:xfrm>
            <a:off x="548640" y="1554480"/>
            <a:ext cx="351525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icon-bg-51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-52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83080"/>
            <a:ext cx="2417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CENTER OF THE MONTH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KLM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109% target · Rp 651 jt · FP progress 89%</a:t>
            </a:r>
            <a:endParaRPr lang="en-US" sz="1400" dirty="0"/>
          </a:p>
        </p:txBody>
      </p:sp>
      <p:sp>
        <p:nvSpPr>
          <p:cNvPr id="10" name="card-53"/>
          <p:cNvSpPr/>
          <p:nvPr/>
        </p:nvSpPr>
        <p:spPr>
          <a:xfrm>
            <a:off x="4338218" y="1554480"/>
            <a:ext cx="351525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1" name="icon-bg-54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con-55" descr="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978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2618" y="1783080"/>
            <a:ext cx="2417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SA OF THE MONTH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66818" y="242316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Agung · HIB</a:t>
            </a:r>
            <a:endParaRPr lang="en-US" sz="2800" dirty="0"/>
          </a:p>
        </p:txBody>
      </p:sp>
      <p:sp>
        <p:nvSpPr>
          <p:cNvPr id="15" name="Text 11"/>
          <p:cNvSpPr txBox="1"/>
          <p:nvPr/>
        </p:nvSpPr>
        <p:spPr>
          <a:xfrm>
            <a:off x="4566818" y="29718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 FP dan revenue Rp 145 jt, juara di 3 kategori</a:t>
            </a:r>
            <a:endParaRPr lang="en-US" sz="1400" dirty="0"/>
          </a:p>
        </p:txBody>
      </p:sp>
      <p:sp>
        <p:nvSpPr>
          <p:cNvPr id="16" name="card-56"/>
          <p:cNvSpPr/>
          <p:nvPr/>
        </p:nvSpPr>
        <p:spPr>
          <a:xfrm>
            <a:off x="8127797" y="1554480"/>
            <a:ext cx="351525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7" name="icon-bg-57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con-58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557" y="19202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42197" y="1783080"/>
            <a:ext cx="2417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CVR TERTINGGI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356397" y="242316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TMP 54,9%</a:t>
            </a:r>
            <a:endParaRPr lang="en-US" sz="2800" dirty="0"/>
          </a:p>
        </p:txBody>
      </p:sp>
      <p:sp>
        <p:nvSpPr>
          <p:cNvPr id="21" name="Text 16"/>
          <p:cNvSpPr txBox="1"/>
          <p:nvPr/>
        </p:nvSpPr>
        <p:spPr>
          <a:xfrm>
            <a:off x="8356397" y="29718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▲19,3 pp vs Agustus · satu-satunya center zona hijau</a:t>
            </a:r>
            <a:endParaRPr lang="en-US" sz="1400" dirty="0"/>
          </a:p>
        </p:txBody>
      </p:sp>
      <p:sp>
        <p:nvSpPr>
          <p:cNvPr id="22" name="card-59"/>
          <p:cNvSpPr/>
          <p:nvPr/>
        </p:nvSpPr>
        <p:spPr>
          <a:xfrm>
            <a:off x="548640" y="3886200"/>
            <a:ext cx="351525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3" name="icon-bg-60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4" name="icon-61" descr="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63040" y="4114800"/>
            <a:ext cx="2417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SATU-SATUNYA YANG TUMBUH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" y="475488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HIB ▲24%</a:t>
            </a:r>
            <a:endParaRPr lang="en-US" sz="2800" dirty="0"/>
          </a:p>
        </p:txBody>
      </p:sp>
      <p:sp>
        <p:nvSpPr>
          <p:cNvPr id="27" name="Text 21"/>
          <p:cNvSpPr txBox="1"/>
          <p:nvPr/>
        </p:nvSpPr>
        <p:spPr>
          <a:xfrm>
            <a:off x="777240" y="530352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Revenue Rp 325 jt → Rp 403 jt</a:t>
            </a:r>
            <a:endParaRPr lang="en-US" sz="1400" dirty="0"/>
          </a:p>
        </p:txBody>
      </p:sp>
      <p:sp>
        <p:nvSpPr>
          <p:cNvPr id="28" name="card-62"/>
          <p:cNvSpPr/>
          <p:nvPr/>
        </p:nvSpPr>
        <p:spPr>
          <a:xfrm>
            <a:off x="4338218" y="3886200"/>
            <a:ext cx="351525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9" name="icon-bg-63"/>
          <p:cNvSpPr/>
          <p:nvPr/>
        </p:nvSpPr>
        <p:spPr>
          <a:xfrm>
            <a:off x="4566818" y="41148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0" name="icon-64" descr="Us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978" y="4251960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52618" y="4114800"/>
            <a:ext cx="2417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FULL PAYMENT TERBANYAK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4566818" y="475488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BTU 85 FP</a:t>
            </a:r>
            <a:endParaRPr lang="en-US" sz="2800" dirty="0"/>
          </a:p>
        </p:txBody>
      </p:sp>
      <p:sp>
        <p:nvSpPr>
          <p:cNvPr id="33" name="Text 26"/>
          <p:cNvSpPr txBox="1"/>
          <p:nvPr/>
        </p:nvSpPr>
        <p:spPr>
          <a:xfrm>
            <a:off x="4566818" y="530352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FP progress ▲20,2 pp ke 79,3%</a:t>
            </a:r>
            <a:endParaRPr lang="en-US" sz="1400" dirty="0"/>
          </a:p>
        </p:txBody>
      </p:sp>
      <p:sp>
        <p:nvSpPr>
          <p:cNvPr id="34" name="card-65"/>
          <p:cNvSpPr/>
          <p:nvPr/>
        </p:nvSpPr>
        <p:spPr>
          <a:xfrm>
            <a:off x="8127797" y="3886200"/>
            <a:ext cx="351525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5" name="icon-bg-66"/>
          <p:cNvSpPr/>
          <p:nvPr/>
        </p:nvSpPr>
        <p:spPr>
          <a:xfrm>
            <a:off x="8356397" y="41148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6" name="icon-67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3557" y="4251960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042197" y="4114800"/>
            <a:ext cx="2417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MOST IMPROVED SA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8356397" y="475488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Ety · TMP</a:t>
            </a:r>
            <a:endParaRPr lang="en-US" sz="2800" dirty="0"/>
          </a:p>
        </p:txBody>
      </p:sp>
      <p:sp>
        <p:nvSpPr>
          <p:cNvPr id="39" name="Text 31"/>
          <p:cNvSpPr txBox="1"/>
          <p:nvPr/>
        </p:nvSpPr>
        <p:spPr>
          <a:xfrm>
            <a:off x="8356397" y="530352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CVR ▲25,9 pp · disusul Vina (HIB) dan Sari (TMP)</a:t>
            </a:r>
            <a:endParaRPr lang="en-US" sz="1400" dirty="0"/>
          </a:p>
        </p:txBody>
      </p:sp>
      <p:sp>
        <p:nvSpPr>
          <p:cNvPr id="40" name="source-68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Sumber: deck SA League Monthly September 2026 (Exboard, per 4 Okt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02 · CENTER YANG PERLU IMPROVEMENT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Scorecard: di mana tiap center tertinggal</a:t>
            </a:r>
            <a:endParaRPr lang="en-US" sz="3200" dirty="0"/>
          </a:p>
        </p:txBody>
      </p:sp>
      <p:graphicFrame>
        <p:nvGraphicFramePr>
          <p:cNvPr id="9" name="table-scorecar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033272"/>
                <a:gridCol w="1097280"/>
                <a:gridCol w="1051560"/>
                <a:gridCol w="1143000"/>
                <a:gridCol w="1143000"/>
                <a:gridCol w="1143000"/>
                <a:gridCol w="1143000"/>
                <a:gridCol w="1097280"/>
                <a:gridCol w="1005840"/>
                <a:gridCol w="1237183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Center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Revenue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(Rp jt)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% target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 revenue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vs Agt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 show up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vs Agt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CVR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SU → paid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FP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progress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DP belum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lunas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SUNP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Utilisasi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kelas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KLM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109%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▼ 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39,6%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89,2%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58,9%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KWC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79%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23%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▼ 24%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39,3%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61,4%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38,2%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PML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52%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17%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43%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37,7%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73,5%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38,7%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TMP *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37%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50%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54,9%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43,5%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8,8%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BTU *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66%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● 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31%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44,6%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79,3%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10,4%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HIB *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67%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▲ 24%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31%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36,8%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79,7%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9,8%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Area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2.452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68%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▼ 10%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41,4%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72,0%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708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26,4%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</a:tr>
            </a:tbl>
          </a:graphicData>
        </a:graphic>
      </p:graphicFrame>
      <p:sp>
        <p:nvSpPr>
          <p:cNvPr id="5" name="legend-69"/>
          <p:cNvSpPr/>
          <p:nvPr/>
        </p:nvSpPr>
        <p:spPr>
          <a:xfrm>
            <a:off x="548640" y="5532120"/>
            <a:ext cx="274320" cy="228600"/>
          </a:xfrm>
          <a:prstGeom prst="roundRect">
            <a:avLst>
              <a:gd name="adj" fmla="val 20000"/>
            </a:avLst>
          </a:prstGeom>
          <a:solidFill>
            <a:srgbClr val="DFF2E8"/>
          </a:solidFill>
          <a:ln w="9525">
            <a:solidFill>
              <a:srgbClr val="1C654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5486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Sehat</a:t>
            </a:r>
            <a:endParaRPr lang="en-US" sz="1200" dirty="0"/>
          </a:p>
        </p:txBody>
      </p:sp>
      <p:sp>
        <p:nvSpPr>
          <p:cNvPr id="7" name="legend-70"/>
          <p:cNvSpPr/>
          <p:nvPr/>
        </p:nvSpPr>
        <p:spPr>
          <a:xfrm>
            <a:off x="2331720" y="5532120"/>
            <a:ext cx="274320" cy="228600"/>
          </a:xfrm>
          <a:prstGeom prst="roundRect">
            <a:avLst>
              <a:gd name="adj" fmla="val 20000"/>
            </a:avLst>
          </a:prstGeom>
          <a:solidFill>
            <a:srgbClr val="FCEFD6"/>
          </a:solidFill>
          <a:ln w="9525">
            <a:solidFill>
              <a:srgbClr val="7A52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697480" y="5486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Waspada</a:t>
            </a:r>
            <a:endParaRPr lang="en-US" sz="1200" dirty="0"/>
          </a:p>
        </p:txBody>
      </p:sp>
      <p:sp>
        <p:nvSpPr>
          <p:cNvPr id="9" name="legend-71"/>
          <p:cNvSpPr/>
          <p:nvPr/>
        </p:nvSpPr>
        <p:spPr>
          <a:xfrm>
            <a:off x="4114800" y="5532120"/>
            <a:ext cx="274320" cy="228600"/>
          </a:xfrm>
          <a:prstGeom prst="roundRect">
            <a:avLst>
              <a:gd name="adj" fmla="val 20000"/>
            </a:avLst>
          </a:prstGeom>
          <a:solidFill>
            <a:srgbClr val="FBE3DD"/>
          </a:solidFill>
          <a:ln w="9525">
            <a:solidFill>
              <a:srgbClr val="9B2C1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80560" y="5486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Perlu tindakan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5486400"/>
            <a:ext cx="5699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* center baru (grand opening 11–12 Agt): utilisasi rendah masih wajar</a:t>
            </a:r>
            <a:endParaRPr lang="en-US" sz="1200" dirty="0"/>
          </a:p>
        </p:txBody>
      </p:sp>
      <p:sp>
        <p:nvSpPr>
          <p:cNvPr id="12" name="source-72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Hijau: % target ≥100 · CVR ≥45% · FP progress ≥85% · utilisasi ≥50%. Kuning: 75–99 · 35–45% · 75–85% · 30–50%. Sumber: Exboard 02 &amp; 08.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02 · CENTER YANG PERLU IMPROVEMENT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Prioritas improvement Oktober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813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PRIORITAS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423160" y="1481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CENTER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4813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% TARGET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4813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MASALAH UTAMA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481328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AKAR MASALAH</a:t>
            </a:r>
            <a:endParaRPr lang="en-US" sz="1200" dirty="0"/>
          </a:p>
        </p:txBody>
      </p:sp>
      <p:sp>
        <p:nvSpPr>
          <p:cNvPr id="9" name="card-73"/>
          <p:cNvSpPr/>
          <p:nvPr/>
        </p:nvSpPr>
        <p:spPr>
          <a:xfrm>
            <a:off x="548640" y="1828800"/>
            <a:ext cx="11094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0" name="chip-74"/>
          <p:cNvSpPr txBox="1"/>
          <p:nvPr/>
        </p:nvSpPr>
        <p:spPr>
          <a:xfrm>
            <a:off x="685800" y="1993392"/>
            <a:ext cx="15544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Prioritas 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18288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TMP</a:t>
            </a:r>
            <a:endParaRPr lang="en-US" sz="2000" dirty="0"/>
          </a:p>
        </p:txBody>
      </p:sp>
      <p:sp>
        <p:nvSpPr>
          <p:cNvPr id="12" name="chip-75"/>
          <p:cNvSpPr txBox="1"/>
          <p:nvPr/>
        </p:nvSpPr>
        <p:spPr>
          <a:xfrm>
            <a:off x="3337560" y="199339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37%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828800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Revenue terendah; FP progress 43,5%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1828800"/>
            <a:ext cx="3093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35 DP belum lunas · leads −52% setelah grand opening</a:t>
            </a:r>
            <a:endParaRPr lang="en-US" sz="1400" dirty="0"/>
          </a:p>
        </p:txBody>
      </p:sp>
      <p:sp>
        <p:nvSpPr>
          <p:cNvPr id="15" name="card-76"/>
          <p:cNvSpPr/>
          <p:nvPr/>
        </p:nvSpPr>
        <p:spPr>
          <a:xfrm>
            <a:off x="548640" y="2505456"/>
            <a:ext cx="11094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6" name="chip-77"/>
          <p:cNvSpPr txBox="1"/>
          <p:nvPr/>
        </p:nvSpPr>
        <p:spPr>
          <a:xfrm>
            <a:off x="685800" y="2670048"/>
            <a:ext cx="15544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Prioritas 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250545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PML</a:t>
            </a:r>
            <a:endParaRPr lang="en-US" sz="2000" dirty="0"/>
          </a:p>
        </p:txBody>
      </p:sp>
      <p:sp>
        <p:nvSpPr>
          <p:cNvPr id="18" name="chip-78"/>
          <p:cNvSpPr txBox="1"/>
          <p:nvPr/>
        </p:nvSpPr>
        <p:spPr>
          <a:xfrm>
            <a:off x="3337560" y="2670048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52%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505456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Leads −47%, show up −43%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505456"/>
            <a:ext cx="3093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SUNP #1 “coba saja” → kualitas lead</a:t>
            </a:r>
            <a:endParaRPr lang="en-US" sz="1400" dirty="0"/>
          </a:p>
        </p:txBody>
      </p:sp>
      <p:sp>
        <p:nvSpPr>
          <p:cNvPr id="21" name="card-79"/>
          <p:cNvSpPr/>
          <p:nvPr/>
        </p:nvSpPr>
        <p:spPr>
          <a:xfrm>
            <a:off x="548640" y="3182112"/>
            <a:ext cx="11094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2" name="chip-80"/>
          <p:cNvSpPr txBox="1"/>
          <p:nvPr/>
        </p:nvSpPr>
        <p:spPr>
          <a:xfrm>
            <a:off x="685800" y="3346704"/>
            <a:ext cx="15544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Prioritas 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318211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KWC</a:t>
            </a:r>
            <a:endParaRPr lang="en-US" sz="2000" dirty="0"/>
          </a:p>
        </p:txBody>
      </p:sp>
      <p:sp>
        <p:nvSpPr>
          <p:cNvPr id="24" name="chip-81"/>
          <p:cNvSpPr txBox="1"/>
          <p:nvPr/>
        </p:nvSpPr>
        <p:spPr>
          <a:xfrm>
            <a:off x="3337560" y="334670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79%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663440" y="318211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FP progress 61,4%, terendah di center matang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3182112"/>
            <a:ext cx="3093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27 DP belum lunas → bocor di pelunasan</a:t>
            </a:r>
            <a:endParaRPr lang="en-US" sz="1400" dirty="0"/>
          </a:p>
        </p:txBody>
      </p:sp>
      <p:sp>
        <p:nvSpPr>
          <p:cNvPr id="27" name="card-82"/>
          <p:cNvSpPr/>
          <p:nvPr/>
        </p:nvSpPr>
        <p:spPr>
          <a:xfrm>
            <a:off x="548640" y="3858768"/>
            <a:ext cx="11094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8" name="chip-83"/>
          <p:cNvSpPr txBox="1"/>
          <p:nvPr/>
        </p:nvSpPr>
        <p:spPr>
          <a:xfrm>
            <a:off x="685800" y="4023360"/>
            <a:ext cx="15544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Prioritas 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423160" y="385876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BTU</a:t>
            </a:r>
            <a:endParaRPr lang="en-US" sz="2000" dirty="0"/>
          </a:p>
        </p:txBody>
      </p:sp>
      <p:sp>
        <p:nvSpPr>
          <p:cNvPr id="30" name="chip-84"/>
          <p:cNvSpPr txBox="1"/>
          <p:nvPr/>
        </p:nvSpPr>
        <p:spPr>
          <a:xfrm>
            <a:off x="3337560" y="402336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66%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3858768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50 kasus “jadwal tidak cocok”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3858768"/>
            <a:ext cx="3093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Bocor di jadwal &amp; harga</a:t>
            </a:r>
            <a:endParaRPr lang="en-US" sz="1400" dirty="0"/>
          </a:p>
        </p:txBody>
      </p:sp>
      <p:sp>
        <p:nvSpPr>
          <p:cNvPr id="33" name="card-85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4" name="chip-86"/>
          <p:cNvSpPr txBox="1"/>
          <p:nvPr/>
        </p:nvSpPr>
        <p:spPr>
          <a:xfrm>
            <a:off x="685800" y="4700016"/>
            <a:ext cx="15544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Prioritas 2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45354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HIB</a:t>
            </a:r>
            <a:endParaRPr lang="en-US" sz="2000" dirty="0"/>
          </a:p>
        </p:txBody>
      </p:sp>
      <p:sp>
        <p:nvSpPr>
          <p:cNvPr id="36" name="chip-87"/>
          <p:cNvSpPr txBox="1"/>
          <p:nvPr/>
        </p:nvSpPr>
        <p:spPr>
          <a:xfrm>
            <a:off x="3337560" y="470001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67%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663440" y="4535424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CVR 36,8% terendah, SUNP 156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66760" y="4535424"/>
            <a:ext cx="3093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Bocor di “diskusi keluarga”</a:t>
            </a:r>
            <a:endParaRPr lang="en-US" sz="1400" dirty="0"/>
          </a:p>
        </p:txBody>
      </p:sp>
      <p:sp>
        <p:nvSpPr>
          <p:cNvPr id="39" name="card-88"/>
          <p:cNvSpPr/>
          <p:nvPr/>
        </p:nvSpPr>
        <p:spPr>
          <a:xfrm>
            <a:off x="548640" y="5212080"/>
            <a:ext cx="1109441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0" name="chip-89"/>
          <p:cNvSpPr txBox="1"/>
          <p:nvPr/>
        </p:nvSpPr>
        <p:spPr>
          <a:xfrm>
            <a:off x="685800" y="5376672"/>
            <a:ext cx="155448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Jaga momentum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423160" y="521208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KLM</a:t>
            </a:r>
            <a:endParaRPr lang="en-US" sz="2000" dirty="0"/>
          </a:p>
        </p:txBody>
      </p:sp>
      <p:sp>
        <p:nvSpPr>
          <p:cNvPr id="42" name="chip-90"/>
          <p:cNvSpPr txBox="1"/>
          <p:nvPr/>
        </p:nvSpPr>
        <p:spPr>
          <a:xfrm>
            <a:off x="3337560" y="537667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109%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5212080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Show up −36%, CVR 39,6% &lt; 45%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366760" y="5212080"/>
            <a:ext cx="3093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Jaga tetap di atas Rp 600 jt</a:t>
            </a:r>
            <a:endParaRPr lang="en-US" sz="1400" dirty="0"/>
          </a:p>
        </p:txBody>
      </p:sp>
      <p:sp>
        <p:nvSpPr>
          <p:cNvPr id="45" name="source-91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Prioritas 1 = gap &gt; Rp 250 jt dan bocor di &gt; 1 titik funnel. Gap ke Rp 600 jt: TMP 379 · PML 289 · BTU 207 · HIB 197 · KWC 127 (Rp jt).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· APA YANG AKAN KITA LAKUKAN · DEEP DIVE STRATEGI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Lima tuas revenue harus bergerak bersama</a:t>
            </a:r>
            <a:endParaRPr lang="en-US" sz="3200" dirty="0"/>
          </a:p>
        </p:txBody>
      </p:sp>
      <p:sp>
        <p:nvSpPr>
          <p:cNvPr id="4" name="card-92"/>
          <p:cNvSpPr/>
          <p:nvPr/>
        </p:nvSpPr>
        <p:spPr>
          <a:xfrm>
            <a:off x="548640" y="1600200"/>
            <a:ext cx="1984797" cy="2926080"/>
          </a:xfrm>
          <a:prstGeom prst="roundRect">
            <a:avLst>
              <a:gd name="adj" fmla="val 5528"/>
            </a:avLst>
          </a:prstGeom>
          <a:solidFill>
            <a:schemeClr val="bg2"/>
          </a:solidFill>
          <a:ln/>
        </p:spPr>
      </p:sp>
      <p:sp>
        <p:nvSpPr>
          <p:cNvPr id="5" name="icon-bg-93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94" descr="Bullh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16190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Leads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SEP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815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2.016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1188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TARGET OKT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81304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2.675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2533437" y="27889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3" name="chip-95"/>
          <p:cNvSpPr txBox="1"/>
          <p:nvPr/>
        </p:nvSpPr>
        <p:spPr>
          <a:xfrm>
            <a:off x="777240" y="4617720"/>
            <a:ext cx="1527597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Strategi 1</a:t>
            </a:r>
            <a:endParaRPr lang="en-US" sz="1100" dirty="0"/>
          </a:p>
        </p:txBody>
      </p:sp>
      <p:sp>
        <p:nvSpPr>
          <p:cNvPr id="14" name="card-96"/>
          <p:cNvSpPr/>
          <p:nvPr/>
        </p:nvSpPr>
        <p:spPr>
          <a:xfrm>
            <a:off x="2826045" y="1600200"/>
            <a:ext cx="1984797" cy="2926080"/>
          </a:xfrm>
          <a:prstGeom prst="roundRect">
            <a:avLst>
              <a:gd name="adj" fmla="val 5528"/>
            </a:avLst>
          </a:prstGeom>
          <a:solidFill>
            <a:schemeClr val="bg2"/>
          </a:solidFill>
          <a:ln/>
        </p:spPr>
      </p:sp>
      <p:sp>
        <p:nvSpPr>
          <p:cNvPr id="15" name="icon-bg-97"/>
          <p:cNvSpPr/>
          <p:nvPr/>
        </p:nvSpPr>
        <p:spPr>
          <a:xfrm>
            <a:off x="3054645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98" descr="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805" y="196596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054645" y="2468880"/>
            <a:ext cx="16190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Show-up rate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3054645" y="288036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SEP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054645" y="30815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49,3%</a:t>
            </a:r>
            <a:endParaRPr lang="en-US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3054645" y="361188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TARGET OKT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3054645" y="381304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50%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4810841" y="27889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ip-99"/>
          <p:cNvSpPr txBox="1"/>
          <p:nvPr/>
        </p:nvSpPr>
        <p:spPr>
          <a:xfrm>
            <a:off x="3054645" y="4617720"/>
            <a:ext cx="1527597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Strategi 1</a:t>
            </a:r>
            <a:endParaRPr lang="en-US" sz="1100" dirty="0"/>
          </a:p>
        </p:txBody>
      </p:sp>
      <p:sp>
        <p:nvSpPr>
          <p:cNvPr id="24" name="card-100"/>
          <p:cNvSpPr/>
          <p:nvPr/>
        </p:nvSpPr>
        <p:spPr>
          <a:xfrm>
            <a:off x="5103449" y="1600200"/>
            <a:ext cx="1984797" cy="2926080"/>
          </a:xfrm>
          <a:prstGeom prst="roundRect">
            <a:avLst>
              <a:gd name="adj" fmla="val 5528"/>
            </a:avLst>
          </a:prstGeom>
          <a:solidFill>
            <a:schemeClr val="bg2"/>
          </a:solidFill>
          <a:ln/>
        </p:spPr>
      </p:sp>
      <p:sp>
        <p:nvSpPr>
          <p:cNvPr id="25" name="icon-bg-101"/>
          <p:cNvSpPr/>
          <p:nvPr/>
        </p:nvSpPr>
        <p:spPr>
          <a:xfrm>
            <a:off x="5332049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10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209" y="19659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332049" y="2468880"/>
            <a:ext cx="16190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CVR SU → paid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5332049" y="288036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SEP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332049" y="30815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41,4%</a:t>
            </a:r>
            <a:endParaRPr lang="en-US" sz="2400" dirty="0"/>
          </a:p>
        </p:txBody>
      </p:sp>
      <p:sp>
        <p:nvSpPr>
          <p:cNvPr id="30" name="Text 25"/>
          <p:cNvSpPr txBox="1"/>
          <p:nvPr/>
        </p:nvSpPr>
        <p:spPr>
          <a:xfrm>
            <a:off x="5332049" y="361188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TARGET OKT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5332049" y="381304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45%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7088246" y="27889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33" name="chip-103"/>
          <p:cNvSpPr txBox="1"/>
          <p:nvPr/>
        </p:nvSpPr>
        <p:spPr>
          <a:xfrm>
            <a:off x="5332049" y="4617720"/>
            <a:ext cx="1527597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Strategi 2</a:t>
            </a:r>
            <a:endParaRPr lang="en-US" sz="1100" dirty="0"/>
          </a:p>
        </p:txBody>
      </p:sp>
      <p:sp>
        <p:nvSpPr>
          <p:cNvPr id="34" name="card-104"/>
          <p:cNvSpPr/>
          <p:nvPr/>
        </p:nvSpPr>
        <p:spPr>
          <a:xfrm>
            <a:off x="7380854" y="1600200"/>
            <a:ext cx="1984797" cy="2926080"/>
          </a:xfrm>
          <a:prstGeom prst="roundRect">
            <a:avLst>
              <a:gd name="adj" fmla="val 5528"/>
            </a:avLst>
          </a:prstGeom>
          <a:solidFill>
            <a:schemeClr val="bg2"/>
          </a:solidFill>
          <a:ln/>
        </p:spPr>
      </p:sp>
      <p:sp>
        <p:nvSpPr>
          <p:cNvPr id="35" name="icon-bg-105"/>
          <p:cNvSpPr/>
          <p:nvPr/>
        </p:nvSpPr>
        <p:spPr>
          <a:xfrm>
            <a:off x="7609454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icon-106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6614" y="1965960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7609454" y="2468880"/>
            <a:ext cx="16190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FP progress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7609454" y="288036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SEP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7609454" y="30815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72,0%</a:t>
            </a:r>
            <a:endParaRPr lang="en-US" sz="2400" dirty="0"/>
          </a:p>
        </p:txBody>
      </p:sp>
      <p:sp>
        <p:nvSpPr>
          <p:cNvPr id="40" name="Text 34"/>
          <p:cNvSpPr txBox="1"/>
          <p:nvPr/>
        </p:nvSpPr>
        <p:spPr>
          <a:xfrm>
            <a:off x="7609454" y="361188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TARGET OKT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7609454" y="381304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≥ 81%</a:t>
            </a:r>
            <a:endParaRPr lang="en-US" sz="2400" dirty="0"/>
          </a:p>
        </p:txBody>
      </p:sp>
      <p:sp>
        <p:nvSpPr>
          <p:cNvPr id="42" name="Text 36"/>
          <p:cNvSpPr txBox="1"/>
          <p:nvPr/>
        </p:nvSpPr>
        <p:spPr>
          <a:xfrm>
            <a:off x="9365651" y="27889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43" name="chip-107"/>
          <p:cNvSpPr txBox="1"/>
          <p:nvPr/>
        </p:nvSpPr>
        <p:spPr>
          <a:xfrm>
            <a:off x="7609454" y="4617720"/>
            <a:ext cx="1527597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Strategi 3</a:t>
            </a:r>
            <a:endParaRPr lang="en-US" sz="1100" dirty="0"/>
          </a:p>
        </p:txBody>
      </p:sp>
      <p:sp>
        <p:nvSpPr>
          <p:cNvPr id="44" name="card-108"/>
          <p:cNvSpPr/>
          <p:nvPr/>
        </p:nvSpPr>
        <p:spPr>
          <a:xfrm>
            <a:off x="9658259" y="1600200"/>
            <a:ext cx="1984797" cy="2926080"/>
          </a:xfrm>
          <a:prstGeom prst="roundRect">
            <a:avLst>
              <a:gd name="adj" fmla="val 5528"/>
            </a:avLst>
          </a:prstGeom>
          <a:solidFill>
            <a:schemeClr val="bg2"/>
          </a:solidFill>
          <a:ln/>
        </p:spPr>
      </p:sp>
      <p:sp>
        <p:nvSpPr>
          <p:cNvPr id="45" name="icon-bg-109"/>
          <p:cNvSpPr/>
          <p:nvPr/>
        </p:nvSpPr>
        <p:spPr>
          <a:xfrm>
            <a:off x="9886859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6" name="icon-110" descr="MoneyBillWa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019" y="1965960"/>
            <a:ext cx="274320" cy="27432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886859" y="2468880"/>
            <a:ext cx="16190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Revenue per FP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886859" y="288036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SEP</a:t>
            </a:r>
            <a:endParaRPr lang="en-US" sz="1100" dirty="0"/>
          </a:p>
        </p:txBody>
      </p:sp>
      <p:sp>
        <p:nvSpPr>
          <p:cNvPr id="49" name="Text 42"/>
          <p:cNvSpPr txBox="1"/>
          <p:nvPr/>
        </p:nvSpPr>
        <p:spPr>
          <a:xfrm>
            <a:off x="9886859" y="30815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Rp 6,3 jt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86859" y="3611880"/>
            <a:ext cx="16190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TARGET OKT</a:t>
            </a:r>
            <a:endParaRPr lang="en-US" sz="1100" dirty="0"/>
          </a:p>
        </p:txBody>
      </p:sp>
      <p:sp>
        <p:nvSpPr>
          <p:cNvPr id="51" name="Text 44"/>
          <p:cNvSpPr txBox="1"/>
          <p:nvPr/>
        </p:nvSpPr>
        <p:spPr>
          <a:xfrm>
            <a:off x="9886859" y="381304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Naik</a:t>
            </a:r>
            <a:endParaRPr lang="en-US" sz="2400" dirty="0"/>
          </a:p>
        </p:txBody>
      </p:sp>
      <p:sp>
        <p:nvSpPr>
          <p:cNvPr id="52" name="chip-111"/>
          <p:cNvSpPr txBox="1"/>
          <p:nvPr/>
        </p:nvSpPr>
        <p:spPr>
          <a:xfrm>
            <a:off x="9886859" y="4617720"/>
            <a:ext cx="1527597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Strategi 3</a:t>
            </a:r>
            <a:endParaRPr lang="en-US" sz="1100" dirty="0"/>
          </a:p>
        </p:txBody>
      </p:sp>
      <p:sp>
        <p:nvSpPr>
          <p:cNvPr id="53" name="card-112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4" name="Text 47"/>
          <p:cNvSpPr txBox="1"/>
          <p:nvPr/>
        </p:nvSpPr>
        <p:spPr>
          <a:xfrm>
            <a:off x="777240" y="507492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Revenue Rp 2,45 M → target Rp 3,6 M (+47%).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Satu tuas tidak cukup: volume harus mendekati Agustus, sambil CVR, pelunasan, dan ukuran paket ikut naik. Strategi 4 (kapasitas) menjamin jadwal yang dijual tersedia.</a:t>
            </a:r>
            <a:endParaRPr lang="en-US" sz="1400" dirty="0"/>
          </a:p>
        </p:txBody>
      </p:sp>
      <p:sp>
        <p:nvSpPr>
          <p:cNvPr id="55" name="source-113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Target Okt = gabungan komitmen 6 center (slide 16–21). Revenue per FP = revenue ÷ FP Sep. FP progress = rata-rata target, bobot total paid.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· APA YANG AKAN KITA LAKUKAN · DEEP DIVE STRATEGI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Strategi 1 · Kembalikan volume funnel</a:t>
            </a:r>
            <a:endParaRPr lang="en-US" sz="3200" dirty="0"/>
          </a:p>
        </p:txBody>
      </p:sp>
      <p:graphicFrame>
        <p:nvGraphicFramePr>
          <p:cNvPr id="12" name="table-lead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05840"/>
                <a:gridCol w="1005840"/>
                <a:gridCol w="9144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Center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Leads Agt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Leads 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 Okt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KLM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589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405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KWC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468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▼ 20%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375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47%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370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TMP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52%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460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BTU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526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5200"/>
                          </a:solidFill>
                        </a:rPr>
                        <a:t>▼ 25%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565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HIB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565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367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500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3.097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2.016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▼ 35%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2.675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5" name="icon-bg-114"/>
          <p:cNvSpPr/>
          <p:nvPr/>
        </p:nvSpPr>
        <p:spPr>
          <a:xfrm>
            <a:off x="571500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115" descr="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783080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46520" y="160020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Aktivasi lokal 2× per minggu per center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46520" y="1947672"/>
            <a:ext cx="5196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Sekolah/TK, komunitas perumahan, event weekend. Prioritas TMP, PML, HIB yang leads-nya turun ≥35%.</a:t>
            </a:r>
            <a:endParaRPr lang="en-US" sz="1400" dirty="0"/>
          </a:p>
        </p:txBody>
      </p:sp>
      <p:sp>
        <p:nvSpPr>
          <p:cNvPr id="9" name="icon-bg-116"/>
          <p:cNvSpPr/>
          <p:nvPr/>
        </p:nvSpPr>
        <p:spPr>
          <a:xfrm>
            <a:off x="571500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117" descr="UserFriend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74320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46520" y="256032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Referral di setiap closing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46520" y="2907792"/>
            <a:ext cx="5196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Diskon uang pangkal Rp 250 rb untuk 3 kontak referral (sudah ada di price list) — wajib ditawarkan.</a:t>
            </a:r>
            <a:endParaRPr lang="en-US" sz="1400" dirty="0"/>
          </a:p>
        </p:txBody>
      </p:sp>
      <p:sp>
        <p:nvSpPr>
          <p:cNvPr id="13" name="icon-bg-118"/>
          <p:cNvSpPr/>
          <p:nvPr/>
        </p:nvSpPr>
        <p:spPr>
          <a:xfrm>
            <a:off x="5715000" y="3566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119" descr="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0332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446520" y="35204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Jaga show-up rate ≥ 50%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446520" y="3867912"/>
            <a:ext cx="5196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Konfirmasi H-1 dan pagi H-0; yang batal langsung di-reschedule di hari yang sama.</a:t>
            </a:r>
            <a:endParaRPr lang="en-US" sz="1400" dirty="0"/>
          </a:p>
        </p:txBody>
      </p:sp>
      <p:sp>
        <p:nvSpPr>
          <p:cNvPr id="17" name="icon-bg-120"/>
          <p:cNvSpPr/>
          <p:nvPr/>
        </p:nvSpPr>
        <p:spPr>
          <a:xfrm>
            <a:off x="5715000" y="4526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-121" descr="Re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46634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46520" y="448056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Reaktivasi 708 SUNP September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6446520" y="4828032"/>
            <a:ext cx="5196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Undang trial ulang saat ada slot/jadwal baru yang cocok dengan alasan mereka.</a:t>
            </a:r>
            <a:endParaRPr lang="en-US" sz="1400" dirty="0"/>
          </a:p>
        </p:txBody>
      </p:sp>
      <p:sp>
        <p:nvSpPr>
          <p:cNvPr id="21" name="card-122"/>
          <p:cNvSpPr/>
          <p:nvPr/>
        </p:nvSpPr>
        <p:spPr>
          <a:xfrm>
            <a:off x="5715000" y="5504688"/>
            <a:ext cx="5928055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5897880" y="5504688"/>
            <a:ext cx="5562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ke Marketing: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tambah alokasi ads TMP dan PML.</a:t>
            </a:r>
            <a:endParaRPr lang="en-US" sz="1400" dirty="0"/>
          </a:p>
        </p:txBody>
      </p:sp>
      <p:sp>
        <p:nvSpPr>
          <p:cNvPr id="23" name="source-123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Target leads Okt = show up yang dibutuhkan ÷ target show-up rate (slide 15). Agt: Center Performance Agustus; Sep: Exboard › 02 Acquisition.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· APA YANG AKAN KITA LAKUKAN · DEEP DIVE STRATEGI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Strategi 2 · Playbook 5 alasan belum closing</a:t>
            </a:r>
            <a:endParaRPr lang="en-US" sz="3200" dirty="0"/>
          </a:p>
        </p:txBody>
      </p:sp>
      <p:graphicFrame>
        <p:nvGraphicFramePr>
          <p:cNvPr id="13" name="table-playboo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822960"/>
                <a:gridCol w="1463040"/>
                <a:gridCol w="6659575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Alasan SUNP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Kasus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Fokus center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Jawaban &amp; aksi SA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Diskusi dengan keluarga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131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HIB · KLM · KWC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Pastikan pengambil keputusan ikut trial (konfirmasi saat booking). Kalau tidak hadir: video call di tempat. Follow-up H+1 dengan video progres anak.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Harga / kemahalan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BTU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Value dulu (air hangat, maks 1:4, lifeguard, make-up class), baru harga. Tawarkan cicilan Indodana — bayar mulai bulan depan. Jangan turun di bawah bottom.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Jadwal tidak cocok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95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BTU (50)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Catat jam yang diminta → bahas di slot map meeting Senin → buka/alih slot → hubungi ulang parents.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Tidak tertarik / coba saja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73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PML · TMP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Kualifikasi saat booking: tujuan, usia, jadwal, budget. Trial diarahkan ke paket yang cocok, bukan sekadar coba.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Rumah jauh / out of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69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KLM (18)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Cek jarak saat booking. Tawarkan jadwal weekend atau center Sparks yang lebih dekat.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d-124"/>
          <p:cNvSpPr/>
          <p:nvPr/>
        </p:nvSpPr>
        <p:spPr>
          <a:xfrm>
            <a:off x="548640" y="5440680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544068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Target CVR area 45% (Sep 41,4%).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CM role-play 15 menit tiap pagi untuk 8 SA di P3.</a:t>
            </a:r>
            <a:endParaRPr lang="en-US" sz="1400" dirty="0"/>
          </a:p>
        </p:txBody>
      </p:sp>
      <p:sp>
        <p:nvSpPr>
          <p:cNvPr id="7" name="source-125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Alat: Pitching Script v2.0, Pricing War Battlecard, SUNP &amp; DP Tracker. P-band CVR Sep: P1 13 · P2 5 · P3 8 SA. Sumber: Exboard 02.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· APA YANG AKAN KITA LAKUKAN · DEEP DIVE STRATEGI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Strategi 3 · DP jadi FP, ticket size naik</a:t>
            </a:r>
            <a:endParaRPr lang="en-US" sz="3200" dirty="0"/>
          </a:p>
        </p:txBody>
      </p:sp>
      <p:sp>
        <p:nvSpPr>
          <p:cNvPr id="4" name="card-126"/>
          <p:cNvSpPr/>
          <p:nvPr/>
        </p:nvSpPr>
        <p:spPr>
          <a:xfrm>
            <a:off x="548640" y="1554480"/>
            <a:ext cx="512064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PELUNASAN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115 murid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masih DP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TMP 35 · KWC 27 · BTU 17 · HIB 15 · PML 13 · KLM 8</a:t>
            </a:r>
            <a:endParaRPr lang="en-US" sz="1400" dirty="0"/>
          </a:p>
        </p:txBody>
      </p:sp>
      <p:sp>
        <p:nvSpPr>
          <p:cNvPr id="8" name="icon-bg-127"/>
          <p:cNvSpPr/>
          <p:nvPr/>
        </p:nvSpPr>
        <p:spPr>
          <a:xfrm>
            <a:off x="822960" y="31363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-128" descr="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3262122"/>
            <a:ext cx="251460" cy="2514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108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Antrian DP harian di SUNP &amp; DP Tracker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438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CM cek 3 angka tiap pagi: DP overdue, SUNP overdue, belum pernah di-FU.</a:t>
            </a:r>
            <a:endParaRPr lang="en-US" sz="1400" dirty="0"/>
          </a:p>
        </p:txBody>
      </p:sp>
      <p:sp>
        <p:nvSpPr>
          <p:cNvPr id="12" name="icon-bg-129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130" descr="Wall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4194810"/>
            <a:ext cx="251460" cy="2514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08760" y="40416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Closing langsung FP dengan Indodana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508760" y="437083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Sparks terima penuh, parents cicil — bayar mulai bulan depan.</a:t>
            </a:r>
            <a:endParaRPr lang="en-US" sz="1400" dirty="0"/>
          </a:p>
        </p:txBody>
      </p:sp>
      <p:sp>
        <p:nvSpPr>
          <p:cNvPr id="16" name="icon-bg-131"/>
          <p:cNvSpPr/>
          <p:nvPr/>
        </p:nvSpPr>
        <p:spPr>
          <a:xfrm>
            <a:off x="822960" y="5001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132" descr="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5127498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9743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Target: 60% DP lunas s.d. 20 Okt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508760" y="5303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≈ 69 FP tambahan dari pool September.</a:t>
            </a:r>
            <a:endParaRPr lang="en-US" sz="1400" dirty="0"/>
          </a:p>
        </p:txBody>
      </p:sp>
      <p:graphicFrame>
        <p:nvGraphicFramePr>
          <p:cNvPr id="20" name="chart-ticket" descr=""/>
          <p:cNvGraphicFramePr/>
          <p:nvPr/>
        </p:nvGraphicFramePr>
        <p:xfrm>
          <a:off x="5989320" y="1508760"/>
          <a:ext cx="5653735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5989320" y="3794760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PROMO OKTOBER · PITCH DARI PAKET TERPANJANG</a:t>
            </a:r>
            <a:endParaRPr lang="en-US" sz="1200" dirty="0"/>
          </a:p>
        </p:txBody>
      </p:sp>
      <p:sp>
        <p:nvSpPr>
          <p:cNvPr id="22" name="card-133"/>
          <p:cNvSpPr/>
          <p:nvPr/>
        </p:nvSpPr>
        <p:spPr>
          <a:xfrm>
            <a:off x="5989320" y="4114800"/>
            <a:ext cx="5653735" cy="566928"/>
          </a:xfrm>
          <a:prstGeom prst="roundRect">
            <a:avLst>
              <a:gd name="adj" fmla="val 19355"/>
            </a:avLst>
          </a:prstGeom>
          <a:solidFill>
            <a:srgbClr val="DCEEF1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6172200" y="411480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6537960" y="41148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Advanced 12 bulan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bayar 6, gratis 6 · cicilan 12× Rp 896 rb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0180015" y="411480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Rp 9,35 jt</a:t>
            </a:r>
            <a:endParaRPr lang="en-US" sz="1600" dirty="0"/>
          </a:p>
        </p:txBody>
      </p:sp>
      <p:sp>
        <p:nvSpPr>
          <p:cNvPr id="26" name="card-134"/>
          <p:cNvSpPr/>
          <p:nvPr/>
        </p:nvSpPr>
        <p:spPr>
          <a:xfrm>
            <a:off x="5989320" y="4736592"/>
            <a:ext cx="5653735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172200" y="4736592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6537960" y="4736592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Basic 6 bulan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bayar 3, gratis 3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180015" y="473659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Rp 5,32 jt</a:t>
            </a:r>
            <a:endParaRPr lang="en-US" sz="1600" dirty="0"/>
          </a:p>
        </p:txBody>
      </p:sp>
      <p:sp>
        <p:nvSpPr>
          <p:cNvPr id="30" name="card-135"/>
          <p:cNvSpPr/>
          <p:nvPr/>
        </p:nvSpPr>
        <p:spPr>
          <a:xfrm>
            <a:off x="5989320" y="5358384"/>
            <a:ext cx="5653735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6172200" y="535838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537960" y="5358384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Lite 3 bulan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starter, tanpa bonus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10180015" y="535838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Rp 4,5 jt</a:t>
            </a:r>
            <a:endParaRPr lang="en-US" sz="1600" dirty="0"/>
          </a:p>
        </p:txBody>
      </p:sp>
      <p:sp>
        <p:nvSpPr>
          <p:cNvPr id="34" name="source-136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Revenue per FP = revenue ÷ FP Sep. Harga: deck Priority Package (promo FP hari ini, belum termasuk uang pangkal &amp; weekend).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03 · APA YANG AKAN KITA LAKUKAN · DEEP DIVE STRATEGI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Strategi 4 · Isi kursi kosong yang sudah ada</a:t>
            </a:r>
            <a:endParaRPr lang="en-US" sz="3200" dirty="0"/>
          </a:p>
        </p:txBody>
      </p:sp>
      <p:graphicFrame>
        <p:nvGraphicFramePr>
          <p:cNvPr id="4" name="chart-util" descr=""/>
          <p:cNvGraphicFramePr/>
          <p:nvPr/>
        </p:nvGraphicFramePr>
        <p:xfrm>
          <a:off x="548640" y="15087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-137"/>
          <p:cNvSpPr/>
          <p:nvPr/>
        </p:nvSpPr>
        <p:spPr>
          <a:xfrm>
            <a:off x="548640" y="4937760"/>
            <a:ext cx="1706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010912"/>
            <a:ext cx="143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7.426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513832"/>
            <a:ext cx="143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Kursi kosong</a:t>
            </a:r>
            <a:endParaRPr lang="en-US" sz="1300" dirty="0"/>
          </a:p>
        </p:txBody>
      </p:sp>
      <p:sp>
        <p:nvSpPr>
          <p:cNvPr id="8" name="card-138"/>
          <p:cNvSpPr/>
          <p:nvPr/>
        </p:nvSpPr>
        <p:spPr>
          <a:xfrm>
            <a:off x="2438400" y="4937760"/>
            <a:ext cx="1706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575560" y="5010912"/>
            <a:ext cx="143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1.105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2575560" y="5513832"/>
            <a:ext cx="143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Kelas 0 murid</a:t>
            </a:r>
            <a:endParaRPr lang="en-US" sz="1300" dirty="0"/>
          </a:p>
        </p:txBody>
      </p:sp>
      <p:sp>
        <p:nvSpPr>
          <p:cNvPr id="11" name="card-139"/>
          <p:cNvSpPr/>
          <p:nvPr/>
        </p:nvSpPr>
        <p:spPr>
          <a:xfrm>
            <a:off x="4328160" y="4937760"/>
            <a:ext cx="1706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65320" y="5010912"/>
            <a:ext cx="143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26,4%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465320" y="5513832"/>
            <a:ext cx="143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Utilisasi area</a:t>
            </a:r>
            <a:endParaRPr lang="en-US" sz="1300" dirty="0"/>
          </a:p>
        </p:txBody>
      </p:sp>
      <p:sp>
        <p:nvSpPr>
          <p:cNvPr id="14" name="icon-bg-140"/>
          <p:cNvSpPr/>
          <p:nvPr/>
        </p:nvSpPr>
        <p:spPr>
          <a:xfrm>
            <a:off x="63550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-141" descr="Calenda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8308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086600" y="1600200"/>
            <a:ext cx="4556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Slot map meeting tiap Senin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7086600" y="1965960"/>
            <a:ext cx="4556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CM × Senior Coach pakai working sheet mingguan: kelas 0 murid mana yang dijual, coach PIC, target murid.</a:t>
            </a:r>
            <a:endParaRPr lang="en-US" sz="1400" dirty="0"/>
          </a:p>
        </p:txBody>
      </p:sp>
      <p:sp>
        <p:nvSpPr>
          <p:cNvPr id="18" name="icon-bg-142"/>
          <p:cNvSpPr/>
          <p:nvPr/>
        </p:nvSpPr>
        <p:spPr>
          <a:xfrm>
            <a:off x="6355080" y="2743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-143" descr="Clipboar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88036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086600" y="2697480"/>
            <a:ext cx="4556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Daftar jual mingguan ke SA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086600" y="3063240"/>
            <a:ext cx="4556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Kelas “Jual minggu ini” / “Buka kelas baru” jadi bahan pitching dan reaktivasi SUNP.</a:t>
            </a:r>
            <a:endParaRPr lang="en-US" sz="1400" dirty="0"/>
          </a:p>
        </p:txBody>
      </p:sp>
      <p:sp>
        <p:nvSpPr>
          <p:cNvPr id="22" name="icon-bg-144"/>
          <p:cNvSpPr/>
          <p:nvPr/>
        </p:nvSpPr>
        <p:spPr>
          <a:xfrm>
            <a:off x="6355080" y="3840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-145" descr="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97764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086600" y="3794760"/>
            <a:ext cx="4556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Jam yang diminta parents dulu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086600" y="4160520"/>
            <a:ext cx="4556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Alasan “jadwal tidak cocok” (BTU 50 kasus) jadi input utama slot yang dibuka atau dialihkan.</a:t>
            </a:r>
            <a:endParaRPr lang="en-US" sz="1400" dirty="0"/>
          </a:p>
        </p:txBody>
      </p:sp>
      <p:sp>
        <p:nvSpPr>
          <p:cNvPr id="26" name="icon-bg-146"/>
          <p:cNvSpPr/>
          <p:nvPr/>
        </p:nvSpPr>
        <p:spPr>
          <a:xfrm>
            <a:off x="6355080" y="4937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147" descr="Swim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07492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86600" y="4892040"/>
            <a:ext cx="4556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Center baru: jual slot jam favorit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086600" y="5257800"/>
            <a:ext cx="4556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TMP, BTU, HIB masih ±10% — fokus isi jam sore &amp; weekend sebelum membuka slot baru.</a:t>
            </a:r>
            <a:endParaRPr lang="en-US" sz="1400" dirty="0"/>
          </a:p>
        </p:txBody>
      </p:sp>
      <p:sp>
        <p:nvSpPr>
          <p:cNvPr id="30" name="source-148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Sumber: Exboard › 08 Class Utilization (per 4 Okt 2026); kelas 0 murid: Slot Map Weekly Meeting W40 (26 Sep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Jalan ke Rp 600 jt per center</a:t>
            </a:r>
            <a:endParaRPr lang="en-US" sz="3200" dirty="0"/>
          </a:p>
        </p:txBody>
      </p:sp>
      <p:graphicFrame>
        <p:nvGraphicFramePr>
          <p:cNvPr id="16" name="table-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033272"/>
                <a:gridCol w="1051560"/>
                <a:gridCol w="1051560"/>
                <a:gridCol w="914400"/>
                <a:gridCol w="1280160"/>
                <a:gridCol w="1097280"/>
                <a:gridCol w="1143000"/>
                <a:gridCol w="1143000"/>
                <a:gridCol w="1188720"/>
                <a:gridCol w="1191463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Center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Revenue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Revenue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per FP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FP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FP butuh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Rp 600 jt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dari DP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(60%)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dari SUNP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(10%)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dari trial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baru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Show up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butuh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Show up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KLM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67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119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KWC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7,5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80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6542"/>
                          </a:solidFill>
                        </a:rPr>
                        <a:t>158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PML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82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189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TMP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117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229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BTU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266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HIB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123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B2C1D"/>
                          </a:solidFill>
                        </a:rPr>
                        <a:t>275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d-149"/>
          <p:cNvSpPr/>
          <p:nvPr/>
        </p:nvSpPr>
        <p:spPr>
          <a:xfrm>
            <a:off x="548640" y="4892040"/>
            <a:ext cx="66751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Center baru butuh show up kembali ke level Agustus.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TMP 229 (Agt 225), BTU 266 (Agt 268), HIB 275 (Agt 292). KLM dan KWC sudah cukup dengan volume September.</a:t>
            </a:r>
            <a:endParaRPr lang="en-US" sz="1400" dirty="0"/>
          </a:p>
        </p:txBody>
      </p:sp>
      <p:sp>
        <p:nvSpPr>
          <p:cNvPr id="7" name="card-150"/>
          <p:cNvSpPr/>
          <p:nvPr/>
        </p:nvSpPr>
        <p:spPr>
          <a:xfrm>
            <a:off x="7498080" y="4892040"/>
            <a:ext cx="4144975" cy="1097280"/>
          </a:xfrm>
          <a:prstGeom prst="roundRect">
            <a:avLst>
              <a:gd name="adj" fmla="val 10000"/>
            </a:avLst>
          </a:prstGeom>
          <a:solidFill>
            <a:srgbClr val="DCEEF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26680" y="4892040"/>
            <a:ext cx="3687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Kalau revenue per FP naik 20%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(paket 6 &amp; 12 bulan), FP butuh turun: TMP 117→98, BTU 130→109, HIB 123→102.</a:t>
            </a:r>
            <a:endParaRPr lang="en-US" sz="1400" dirty="0"/>
          </a:p>
        </p:txBody>
      </p:sp>
      <p:sp>
        <p:nvSpPr>
          <p:cNvPr id="9" name="source-151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FP butuh = 600 ÷ revenue per FP · trial baru = FP butuh − 60% DP − 10% SUNP · show up butuh = trial baru ÷ (CVR × FP progress target).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 · KALIMALANG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KLM · Jaga di atas target, pulihkan volume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SEPTEMBER</a:t>
            </a:r>
            <a:endParaRPr lang="en-US" sz="1200" dirty="0"/>
          </a:p>
        </p:txBody>
      </p:sp>
      <p:sp>
        <p:nvSpPr>
          <p:cNvPr id="5" name="card-152"/>
          <p:cNvSpPr/>
          <p:nvPr/>
        </p:nvSpPr>
        <p:spPr>
          <a:xfrm>
            <a:off x="548640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Revenue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Rp 651 jt</a:t>
            </a:r>
            <a:endParaRPr lang="en-US" sz="1800" dirty="0"/>
          </a:p>
        </p:txBody>
      </p:sp>
      <p:sp>
        <p:nvSpPr>
          <p:cNvPr id="8" name="chip-153"/>
          <p:cNvSpPr txBox="1"/>
          <p:nvPr/>
        </p:nvSpPr>
        <p:spPr>
          <a:xfrm>
            <a:off x="685800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109% target</a:t>
            </a:r>
            <a:endParaRPr lang="en-US" sz="1100" dirty="0"/>
          </a:p>
        </p:txBody>
      </p:sp>
      <p:sp>
        <p:nvSpPr>
          <p:cNvPr id="9" name="card-154"/>
          <p:cNvSpPr/>
          <p:nvPr/>
        </p:nvSpPr>
        <p:spPr>
          <a:xfrm>
            <a:off x="2428189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65349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Show up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65349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187</a:t>
            </a:r>
            <a:endParaRPr lang="en-US" sz="1800" dirty="0"/>
          </a:p>
        </p:txBody>
      </p:sp>
      <p:sp>
        <p:nvSpPr>
          <p:cNvPr id="12" name="chip-155"/>
          <p:cNvSpPr txBox="1"/>
          <p:nvPr/>
        </p:nvSpPr>
        <p:spPr>
          <a:xfrm>
            <a:off x="2565349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36% vs Agt</a:t>
            </a:r>
            <a:endParaRPr lang="en-US" sz="1100" dirty="0"/>
          </a:p>
        </p:txBody>
      </p:sp>
      <p:sp>
        <p:nvSpPr>
          <p:cNvPr id="13" name="card-156"/>
          <p:cNvSpPr/>
          <p:nvPr/>
        </p:nvSpPr>
        <p:spPr>
          <a:xfrm>
            <a:off x="430773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4489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CVR SU → paid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489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39,6%</a:t>
            </a:r>
            <a:endParaRPr lang="en-US" sz="1800" dirty="0"/>
          </a:p>
        </p:txBody>
      </p:sp>
      <p:sp>
        <p:nvSpPr>
          <p:cNvPr id="16" name="chip-157"/>
          <p:cNvSpPr txBox="1"/>
          <p:nvPr/>
        </p:nvSpPr>
        <p:spPr>
          <a:xfrm>
            <a:off x="444489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▲ 3,9 pp</a:t>
            </a:r>
            <a:endParaRPr lang="en-US" sz="1100" dirty="0"/>
          </a:p>
        </p:txBody>
      </p:sp>
      <p:sp>
        <p:nvSpPr>
          <p:cNvPr id="17" name="card-158"/>
          <p:cNvSpPr/>
          <p:nvPr/>
        </p:nvSpPr>
        <p:spPr>
          <a:xfrm>
            <a:off x="618728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444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FP progress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2444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89,2%</a:t>
            </a:r>
            <a:endParaRPr lang="en-US" sz="1800" dirty="0"/>
          </a:p>
        </p:txBody>
      </p:sp>
      <p:sp>
        <p:nvSpPr>
          <p:cNvPr id="20" name="chip-159"/>
          <p:cNvSpPr txBox="1"/>
          <p:nvPr/>
        </p:nvSpPr>
        <p:spPr>
          <a:xfrm>
            <a:off x="632444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▲ 0,6 pp</a:t>
            </a:r>
            <a:endParaRPr lang="en-US" sz="1100" dirty="0"/>
          </a:p>
        </p:txBody>
      </p:sp>
      <p:sp>
        <p:nvSpPr>
          <p:cNvPr id="21" name="card-160"/>
          <p:cNvSpPr/>
          <p:nvPr/>
        </p:nvSpPr>
        <p:spPr>
          <a:xfrm>
            <a:off x="8066837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03997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DP belum lunas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03997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</a:t>
            </a:r>
            <a:endParaRPr lang="en-US" sz="1800" dirty="0"/>
          </a:p>
        </p:txBody>
      </p:sp>
      <p:sp>
        <p:nvSpPr>
          <p:cNvPr id="24" name="chip-161"/>
          <p:cNvSpPr txBox="1"/>
          <p:nvPr/>
        </p:nvSpPr>
        <p:spPr>
          <a:xfrm>
            <a:off x="8203997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kejar → FP</a:t>
            </a:r>
            <a:endParaRPr lang="en-US" sz="1100" dirty="0"/>
          </a:p>
        </p:txBody>
      </p:sp>
      <p:sp>
        <p:nvSpPr>
          <p:cNvPr id="25" name="card-162"/>
          <p:cNvSpPr/>
          <p:nvPr/>
        </p:nvSpPr>
        <p:spPr>
          <a:xfrm>
            <a:off x="9946386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83546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SUNP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83546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142</a:t>
            </a:r>
            <a:endParaRPr lang="en-US" sz="1800" dirty="0"/>
          </a:p>
        </p:txBody>
      </p:sp>
      <p:sp>
        <p:nvSpPr>
          <p:cNvPr id="28" name="chip-163"/>
          <p:cNvSpPr txBox="1"/>
          <p:nvPr/>
        </p:nvSpPr>
        <p:spPr>
          <a:xfrm>
            <a:off x="10083546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pool follow-up</a:t>
            </a:r>
            <a:endParaRPr lang="en-US" sz="1100" dirty="0"/>
          </a:p>
        </p:txBody>
      </p:sp>
      <p:sp>
        <p:nvSpPr>
          <p:cNvPr id="29" name="card-164"/>
          <p:cNvSpPr/>
          <p:nvPr/>
        </p:nvSpPr>
        <p:spPr>
          <a:xfrm>
            <a:off x="548640" y="2779776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DCEEF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2779776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475"/>
                </a:solidFill>
              </a:rPr>
              <a:t>Diagnosis: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Satu-satunya center ≥ target (109%), tapi show up turun 36% dan CVR 39,6% masih di bawah 45%. 142 SUNP — alasan #1 diskusi keluarga; “rumah jauh” terbanyak di KLM (18).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20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DRAFT KOMITMEN OKTOBER</a:t>
            </a:r>
            <a:endParaRPr lang="en-US" sz="1200" dirty="0"/>
          </a:p>
        </p:txBody>
      </p:sp>
      <p:graphicFrame>
        <p:nvGraphicFramePr>
          <p:cNvPr id="17" name="table-commit-KL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 Okt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Leads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405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Show up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190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CVR SU → paid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39,6%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FP progress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89,2%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90%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Full payment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72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Revenue (Rp jt)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806440" y="3520440"/>
            <a:ext cx="5836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3 AKSI UTAMA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806440" y="3813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263640" y="379476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Reaktivasi 142 SUNP + referral di setiap closing (diskon uang pangkal untuk 3 kontak)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+ SA · mulai 6 Okt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5445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63640" y="452628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Protokol pengambil keputusan hadir saat trial; follow-up H+1 dengan video progres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· setiap trial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8064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263640" y="525780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108 murid di renewal window: tawarkan paket 12 bulan (6+6) sebelum sesi habis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retention · s.d. 20 Okt</a:t>
            </a:r>
            <a:endParaRPr lang="en-US" sz="1400" dirty="0"/>
          </a:p>
        </p:txBody>
      </p:sp>
      <p:sp>
        <p:nvSpPr>
          <p:cNvPr id="40" name="source-165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Model slide 15: show up = max(kebutuhan 119, Sep 187); leads = show up ÷ show-up rate 48%, min. leads Sep; bulat ke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 · KARAWACI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KWC · Sudah closing, tinggal dilunasi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SEPTEMBER</a:t>
            </a:r>
            <a:endParaRPr lang="en-US" sz="1200" dirty="0"/>
          </a:p>
        </p:txBody>
      </p:sp>
      <p:sp>
        <p:nvSpPr>
          <p:cNvPr id="5" name="card-166"/>
          <p:cNvSpPr/>
          <p:nvPr/>
        </p:nvSpPr>
        <p:spPr>
          <a:xfrm>
            <a:off x="548640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Revenue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Rp 473 jt</a:t>
            </a:r>
            <a:endParaRPr lang="en-US" sz="1800" dirty="0"/>
          </a:p>
        </p:txBody>
      </p:sp>
      <p:sp>
        <p:nvSpPr>
          <p:cNvPr id="8" name="chip-167"/>
          <p:cNvSpPr txBox="1"/>
          <p:nvPr/>
        </p:nvSpPr>
        <p:spPr>
          <a:xfrm>
            <a:off x="685800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79% target</a:t>
            </a:r>
            <a:endParaRPr lang="en-US" sz="1100" dirty="0"/>
          </a:p>
        </p:txBody>
      </p:sp>
      <p:sp>
        <p:nvSpPr>
          <p:cNvPr id="9" name="card-168"/>
          <p:cNvSpPr/>
          <p:nvPr/>
        </p:nvSpPr>
        <p:spPr>
          <a:xfrm>
            <a:off x="2428189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65349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Show up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65349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178</a:t>
            </a:r>
            <a:endParaRPr lang="en-US" sz="1800" dirty="0"/>
          </a:p>
        </p:txBody>
      </p:sp>
      <p:sp>
        <p:nvSpPr>
          <p:cNvPr id="12" name="chip-169"/>
          <p:cNvSpPr txBox="1"/>
          <p:nvPr/>
        </p:nvSpPr>
        <p:spPr>
          <a:xfrm>
            <a:off x="2565349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▼ 24% vs Agt</a:t>
            </a:r>
            <a:endParaRPr lang="en-US" sz="1100" dirty="0"/>
          </a:p>
        </p:txBody>
      </p:sp>
      <p:sp>
        <p:nvSpPr>
          <p:cNvPr id="13" name="card-170"/>
          <p:cNvSpPr/>
          <p:nvPr/>
        </p:nvSpPr>
        <p:spPr>
          <a:xfrm>
            <a:off x="430773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4489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CVR SU → paid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489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39,3%</a:t>
            </a:r>
            <a:endParaRPr lang="en-US" sz="1800" dirty="0"/>
          </a:p>
        </p:txBody>
      </p:sp>
      <p:sp>
        <p:nvSpPr>
          <p:cNvPr id="16" name="chip-171"/>
          <p:cNvSpPr txBox="1"/>
          <p:nvPr/>
        </p:nvSpPr>
        <p:spPr>
          <a:xfrm>
            <a:off x="444489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▼ 4,5 pp</a:t>
            </a:r>
            <a:endParaRPr lang="en-US" sz="1100" dirty="0"/>
          </a:p>
        </p:txBody>
      </p:sp>
      <p:sp>
        <p:nvSpPr>
          <p:cNvPr id="17" name="card-172"/>
          <p:cNvSpPr/>
          <p:nvPr/>
        </p:nvSpPr>
        <p:spPr>
          <a:xfrm>
            <a:off x="618728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444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FP progress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2444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61,4%</a:t>
            </a:r>
            <a:endParaRPr lang="en-US" sz="1800" dirty="0"/>
          </a:p>
        </p:txBody>
      </p:sp>
      <p:sp>
        <p:nvSpPr>
          <p:cNvPr id="20" name="chip-173"/>
          <p:cNvSpPr txBox="1"/>
          <p:nvPr/>
        </p:nvSpPr>
        <p:spPr>
          <a:xfrm>
            <a:off x="632444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1,7 pp</a:t>
            </a:r>
            <a:endParaRPr lang="en-US" sz="1100" dirty="0"/>
          </a:p>
        </p:txBody>
      </p:sp>
      <p:sp>
        <p:nvSpPr>
          <p:cNvPr id="21" name="card-174"/>
          <p:cNvSpPr/>
          <p:nvPr/>
        </p:nvSpPr>
        <p:spPr>
          <a:xfrm>
            <a:off x="8066837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03997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DP belum lunas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03997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27</a:t>
            </a:r>
            <a:endParaRPr lang="en-US" sz="1800" dirty="0"/>
          </a:p>
        </p:txBody>
      </p:sp>
      <p:sp>
        <p:nvSpPr>
          <p:cNvPr id="24" name="chip-175"/>
          <p:cNvSpPr txBox="1"/>
          <p:nvPr/>
        </p:nvSpPr>
        <p:spPr>
          <a:xfrm>
            <a:off x="8203997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kejar → FP</a:t>
            </a:r>
            <a:endParaRPr lang="en-US" sz="1100" dirty="0"/>
          </a:p>
        </p:txBody>
      </p:sp>
      <p:sp>
        <p:nvSpPr>
          <p:cNvPr id="25" name="card-176"/>
          <p:cNvSpPr/>
          <p:nvPr/>
        </p:nvSpPr>
        <p:spPr>
          <a:xfrm>
            <a:off x="9946386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83546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SUNP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83546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107</a:t>
            </a:r>
            <a:endParaRPr lang="en-US" sz="1800" dirty="0"/>
          </a:p>
        </p:txBody>
      </p:sp>
      <p:sp>
        <p:nvSpPr>
          <p:cNvPr id="28" name="chip-177"/>
          <p:cNvSpPr txBox="1"/>
          <p:nvPr/>
        </p:nvSpPr>
        <p:spPr>
          <a:xfrm>
            <a:off x="10083546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pool follow-up</a:t>
            </a:r>
            <a:endParaRPr lang="en-US" sz="1100" dirty="0"/>
          </a:p>
        </p:txBody>
      </p:sp>
      <p:sp>
        <p:nvSpPr>
          <p:cNvPr id="29" name="card-178"/>
          <p:cNvSpPr/>
          <p:nvPr/>
        </p:nvSpPr>
        <p:spPr>
          <a:xfrm>
            <a:off x="548640" y="2779776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DCEEF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2779776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475"/>
                </a:solidFill>
              </a:rPr>
              <a:t>Diagnosis: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Revenue 79% (▼23% vs Agt). FP progress 61,4% — terendah di center matang — dengan 27 DP belum lunas. CVR turun 4,5 pp ke 39,3%.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20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DRAFT KOMITMEN OKTOBER</a:t>
            </a:r>
            <a:endParaRPr lang="en-US" sz="1200" dirty="0"/>
          </a:p>
        </p:txBody>
      </p:sp>
      <p:graphicFrame>
        <p:nvGraphicFramePr>
          <p:cNvPr id="18" name="table-commit-KW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 Okt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Leads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375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Show up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180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CVR SU → paid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39,3%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FP progress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61,4%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75%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Full payment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80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Revenue (Rp jt)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806440" y="3520440"/>
            <a:ext cx="5836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3 AKSI UTAMA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806440" y="3813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263640" y="379476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Antrian DP harian di SUNP &amp; DP Tracker: 16 dari 27 DP lunas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cek harian · s.d. 20 Okt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5445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63640" y="452628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Tawarkan cicilan Indodana sebelum opsi DP, supaya closing langsung FP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· mulai 6 Okt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8064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263640" y="525780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Survei harga Studiorenang Gading Serpong (2,8 km, belum ada data) + isi Intel Lapangan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· s.d. 11 Okt</a:t>
            </a:r>
            <a:endParaRPr lang="en-US" sz="1400" dirty="0"/>
          </a:p>
        </p:txBody>
      </p:sp>
      <p:sp>
        <p:nvSpPr>
          <p:cNvPr id="40" name="source-179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Model slide 15: show up = max(kebutuhan 158, Sep 178); leads = show up ÷ show-up rate 49%, min. leads Sep; bulat ke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 · PAMULANG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PML · Isi ulang funnel yang turun 47%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SEPTEMBER</a:t>
            </a:r>
            <a:endParaRPr lang="en-US" sz="1200" dirty="0"/>
          </a:p>
        </p:txBody>
      </p:sp>
      <p:sp>
        <p:nvSpPr>
          <p:cNvPr id="5" name="card-180"/>
          <p:cNvSpPr/>
          <p:nvPr/>
        </p:nvSpPr>
        <p:spPr>
          <a:xfrm>
            <a:off x="548640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Revenue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Rp 311 jt</a:t>
            </a:r>
            <a:endParaRPr lang="en-US" sz="1800" dirty="0"/>
          </a:p>
        </p:txBody>
      </p:sp>
      <p:sp>
        <p:nvSpPr>
          <p:cNvPr id="8" name="chip-181"/>
          <p:cNvSpPr txBox="1"/>
          <p:nvPr/>
        </p:nvSpPr>
        <p:spPr>
          <a:xfrm>
            <a:off x="685800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52% target</a:t>
            </a:r>
            <a:endParaRPr lang="en-US" sz="1100" dirty="0"/>
          </a:p>
        </p:txBody>
      </p:sp>
      <p:sp>
        <p:nvSpPr>
          <p:cNvPr id="9" name="card-182"/>
          <p:cNvSpPr/>
          <p:nvPr/>
        </p:nvSpPr>
        <p:spPr>
          <a:xfrm>
            <a:off x="2428189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65349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Show up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65349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130</a:t>
            </a:r>
            <a:endParaRPr lang="en-US" sz="1800" dirty="0"/>
          </a:p>
        </p:txBody>
      </p:sp>
      <p:sp>
        <p:nvSpPr>
          <p:cNvPr id="12" name="chip-183"/>
          <p:cNvSpPr txBox="1"/>
          <p:nvPr/>
        </p:nvSpPr>
        <p:spPr>
          <a:xfrm>
            <a:off x="2565349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43% vs Agt</a:t>
            </a:r>
            <a:endParaRPr lang="en-US" sz="1100" dirty="0"/>
          </a:p>
        </p:txBody>
      </p:sp>
      <p:sp>
        <p:nvSpPr>
          <p:cNvPr id="13" name="card-184"/>
          <p:cNvSpPr/>
          <p:nvPr/>
        </p:nvSpPr>
        <p:spPr>
          <a:xfrm>
            <a:off x="430773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4489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CVR SU → paid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489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37,7%</a:t>
            </a:r>
            <a:endParaRPr lang="en-US" sz="1800" dirty="0"/>
          </a:p>
        </p:txBody>
      </p:sp>
      <p:sp>
        <p:nvSpPr>
          <p:cNvPr id="16" name="chip-185"/>
          <p:cNvSpPr txBox="1"/>
          <p:nvPr/>
        </p:nvSpPr>
        <p:spPr>
          <a:xfrm>
            <a:off x="444489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▲ 8,6 pp</a:t>
            </a:r>
            <a:endParaRPr lang="en-US" sz="1100" dirty="0"/>
          </a:p>
        </p:txBody>
      </p:sp>
      <p:sp>
        <p:nvSpPr>
          <p:cNvPr id="17" name="card-186"/>
          <p:cNvSpPr/>
          <p:nvPr/>
        </p:nvSpPr>
        <p:spPr>
          <a:xfrm>
            <a:off x="618728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444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FP progress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2444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73,5%</a:t>
            </a:r>
            <a:endParaRPr lang="en-US" sz="1800" dirty="0"/>
          </a:p>
        </p:txBody>
      </p:sp>
      <p:sp>
        <p:nvSpPr>
          <p:cNvPr id="20" name="chip-187"/>
          <p:cNvSpPr txBox="1"/>
          <p:nvPr/>
        </p:nvSpPr>
        <p:spPr>
          <a:xfrm>
            <a:off x="632444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4,1 pp</a:t>
            </a:r>
            <a:endParaRPr lang="en-US" sz="1100" dirty="0"/>
          </a:p>
        </p:txBody>
      </p:sp>
      <p:sp>
        <p:nvSpPr>
          <p:cNvPr id="21" name="card-188"/>
          <p:cNvSpPr/>
          <p:nvPr/>
        </p:nvSpPr>
        <p:spPr>
          <a:xfrm>
            <a:off x="8066837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03997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DP belum lunas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03997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</a:t>
            </a:r>
            <a:endParaRPr lang="en-US" sz="1800" dirty="0"/>
          </a:p>
        </p:txBody>
      </p:sp>
      <p:sp>
        <p:nvSpPr>
          <p:cNvPr id="24" name="chip-189"/>
          <p:cNvSpPr txBox="1"/>
          <p:nvPr/>
        </p:nvSpPr>
        <p:spPr>
          <a:xfrm>
            <a:off x="8203997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kejar → FP</a:t>
            </a:r>
            <a:endParaRPr lang="en-US" sz="1100" dirty="0"/>
          </a:p>
        </p:txBody>
      </p:sp>
      <p:sp>
        <p:nvSpPr>
          <p:cNvPr id="25" name="card-190"/>
          <p:cNvSpPr/>
          <p:nvPr/>
        </p:nvSpPr>
        <p:spPr>
          <a:xfrm>
            <a:off x="9946386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83546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SUNP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83546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93</a:t>
            </a:r>
            <a:endParaRPr lang="en-US" sz="1800" dirty="0"/>
          </a:p>
        </p:txBody>
      </p:sp>
      <p:sp>
        <p:nvSpPr>
          <p:cNvPr id="28" name="chip-191"/>
          <p:cNvSpPr txBox="1"/>
          <p:nvPr/>
        </p:nvSpPr>
        <p:spPr>
          <a:xfrm>
            <a:off x="10083546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pool follow-up</a:t>
            </a:r>
            <a:endParaRPr lang="en-US" sz="1100" dirty="0"/>
          </a:p>
        </p:txBody>
      </p:sp>
      <p:sp>
        <p:nvSpPr>
          <p:cNvPr id="29" name="card-192"/>
          <p:cNvSpPr/>
          <p:nvPr/>
        </p:nvSpPr>
        <p:spPr>
          <a:xfrm>
            <a:off x="548640" y="2779776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DCEEF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2779776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475"/>
                </a:solidFill>
              </a:rPr>
              <a:t>Diagnosis: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Revenue 52% (gap Rp 289 jt). Leads −47% dan show up −43% vs Agustus. SUNP #1 “tidak tertarik / coba saja” → kualitas lead. Harga sudah setara Studiorenang BSD, jadi tidak perlu diskon.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20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DRAFT KOMITMEN OKTOBER</a:t>
            </a:r>
            <a:endParaRPr lang="en-US" sz="1200" dirty="0"/>
          </a:p>
        </p:txBody>
      </p:sp>
      <p:graphicFrame>
        <p:nvGraphicFramePr>
          <p:cNvPr id="19" name="table-commit-PM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 Okt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Leads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370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Show up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190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CVR SU → paid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37,7%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FP progress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73,5%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80%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Full payment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82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Revenue (Rp jt)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806440" y="3520440"/>
            <a:ext cx="5836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3 AKSI UTAMA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806440" y="3813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263640" y="379476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Aktivasi sekolah/TK &amp; komunitas sekitar Pamulang 2× per minggu; minta tambahan alokasi ads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+ Marketing · mulai W41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5445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63640" y="452628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Kualifikasi saat booking (tujuan, usia, jadwal, budget) untuk kurangi trial “coba saja”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/ telesales · mulai 6 Okt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8064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263640" y="525780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Jual 120 kelas 0 murid lewat slot map Senin; pitching value (make-up class, lifeguard)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× Senior Coach · tiap Senin</a:t>
            </a:r>
            <a:endParaRPr lang="en-US" sz="1400" dirty="0"/>
          </a:p>
        </p:txBody>
      </p:sp>
      <p:sp>
        <p:nvSpPr>
          <p:cNvPr id="40" name="source-193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Model slide 15: show up = max(kebutuhan 189, Sep 130); leads = show up ÷ show-up rate 52%, min. leads Sep; bulat ke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 · TAMAN PALEM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TMP · Prioritas #1: dari DP ke FP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SEPTEMBER</a:t>
            </a:r>
            <a:endParaRPr lang="en-US" sz="1200" dirty="0"/>
          </a:p>
        </p:txBody>
      </p:sp>
      <p:sp>
        <p:nvSpPr>
          <p:cNvPr id="5" name="card-194"/>
          <p:cNvSpPr/>
          <p:nvPr/>
        </p:nvSpPr>
        <p:spPr>
          <a:xfrm>
            <a:off x="548640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Revenue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Rp 221 jt</a:t>
            </a:r>
            <a:endParaRPr lang="en-US" sz="1800" dirty="0"/>
          </a:p>
        </p:txBody>
      </p:sp>
      <p:sp>
        <p:nvSpPr>
          <p:cNvPr id="8" name="chip-195"/>
          <p:cNvSpPr txBox="1"/>
          <p:nvPr/>
        </p:nvSpPr>
        <p:spPr>
          <a:xfrm>
            <a:off x="685800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37% target</a:t>
            </a:r>
            <a:endParaRPr lang="en-US" sz="1100" dirty="0"/>
          </a:p>
        </p:txBody>
      </p:sp>
      <p:sp>
        <p:nvSpPr>
          <p:cNvPr id="9" name="card-196"/>
          <p:cNvSpPr/>
          <p:nvPr/>
        </p:nvSpPr>
        <p:spPr>
          <a:xfrm>
            <a:off x="2428189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65349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Show up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65349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113</a:t>
            </a:r>
            <a:endParaRPr lang="en-US" sz="1800" dirty="0"/>
          </a:p>
        </p:txBody>
      </p:sp>
      <p:sp>
        <p:nvSpPr>
          <p:cNvPr id="12" name="chip-197"/>
          <p:cNvSpPr txBox="1"/>
          <p:nvPr/>
        </p:nvSpPr>
        <p:spPr>
          <a:xfrm>
            <a:off x="2565349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50% vs Agt</a:t>
            </a:r>
            <a:endParaRPr lang="en-US" sz="1100" dirty="0"/>
          </a:p>
        </p:txBody>
      </p:sp>
      <p:sp>
        <p:nvSpPr>
          <p:cNvPr id="13" name="card-198"/>
          <p:cNvSpPr/>
          <p:nvPr/>
        </p:nvSpPr>
        <p:spPr>
          <a:xfrm>
            <a:off x="430773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4489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CVR SU → paid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489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54,9%</a:t>
            </a:r>
            <a:endParaRPr lang="en-US" sz="1800" dirty="0"/>
          </a:p>
        </p:txBody>
      </p:sp>
      <p:sp>
        <p:nvSpPr>
          <p:cNvPr id="16" name="chip-199"/>
          <p:cNvSpPr txBox="1"/>
          <p:nvPr/>
        </p:nvSpPr>
        <p:spPr>
          <a:xfrm>
            <a:off x="444489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▲ 19,3 pp</a:t>
            </a:r>
            <a:endParaRPr lang="en-US" sz="1100" dirty="0"/>
          </a:p>
        </p:txBody>
      </p:sp>
      <p:sp>
        <p:nvSpPr>
          <p:cNvPr id="17" name="card-200"/>
          <p:cNvSpPr/>
          <p:nvPr/>
        </p:nvSpPr>
        <p:spPr>
          <a:xfrm>
            <a:off x="618728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444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FP progress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2444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43,5%</a:t>
            </a:r>
            <a:endParaRPr lang="en-US" sz="1800" dirty="0"/>
          </a:p>
        </p:txBody>
      </p:sp>
      <p:sp>
        <p:nvSpPr>
          <p:cNvPr id="20" name="chip-201"/>
          <p:cNvSpPr txBox="1"/>
          <p:nvPr/>
        </p:nvSpPr>
        <p:spPr>
          <a:xfrm>
            <a:off x="632444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17,7 pp</a:t>
            </a:r>
            <a:endParaRPr lang="en-US" sz="1100" dirty="0"/>
          </a:p>
        </p:txBody>
      </p:sp>
      <p:sp>
        <p:nvSpPr>
          <p:cNvPr id="21" name="card-202"/>
          <p:cNvSpPr/>
          <p:nvPr/>
        </p:nvSpPr>
        <p:spPr>
          <a:xfrm>
            <a:off x="8066837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03997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DP belum lunas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03997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35</a:t>
            </a:r>
            <a:endParaRPr lang="en-US" sz="1800" dirty="0"/>
          </a:p>
        </p:txBody>
      </p:sp>
      <p:sp>
        <p:nvSpPr>
          <p:cNvPr id="24" name="chip-203"/>
          <p:cNvSpPr txBox="1"/>
          <p:nvPr/>
        </p:nvSpPr>
        <p:spPr>
          <a:xfrm>
            <a:off x="8203997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kejar → FP</a:t>
            </a:r>
            <a:endParaRPr lang="en-US" sz="1100" dirty="0"/>
          </a:p>
        </p:txBody>
      </p:sp>
      <p:sp>
        <p:nvSpPr>
          <p:cNvPr id="25" name="card-204"/>
          <p:cNvSpPr/>
          <p:nvPr/>
        </p:nvSpPr>
        <p:spPr>
          <a:xfrm>
            <a:off x="9946386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83546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SUNP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83546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75</a:t>
            </a:r>
            <a:endParaRPr lang="en-US" sz="1800" dirty="0"/>
          </a:p>
        </p:txBody>
      </p:sp>
      <p:sp>
        <p:nvSpPr>
          <p:cNvPr id="28" name="chip-205"/>
          <p:cNvSpPr txBox="1"/>
          <p:nvPr/>
        </p:nvSpPr>
        <p:spPr>
          <a:xfrm>
            <a:off x="10083546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pool follow-up</a:t>
            </a:r>
            <a:endParaRPr lang="en-US" sz="1100" dirty="0"/>
          </a:p>
        </p:txBody>
      </p:sp>
      <p:sp>
        <p:nvSpPr>
          <p:cNvPr id="29" name="card-206"/>
          <p:cNvSpPr/>
          <p:nvPr/>
        </p:nvSpPr>
        <p:spPr>
          <a:xfrm>
            <a:off x="548640" y="2779776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DCEEF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2779776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475"/>
                </a:solidFill>
              </a:rPr>
              <a:t>Diagnosis: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Revenue Rp 221 jt (37%), terendah. CVR tertinggi (54,9%) tapi FP progress hanya 43,5% — 35 DP belum lunas. Leads −52% setelah grand opening; revenue per FP Rp 5,1 jt.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20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DRAFT KOMITMEN OKTOBER</a:t>
            </a:r>
            <a:endParaRPr lang="en-US" sz="1200" dirty="0"/>
          </a:p>
        </p:txBody>
      </p:sp>
      <p:graphicFrame>
        <p:nvGraphicFramePr>
          <p:cNvPr id="20" name="table-commit-TM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 Okt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Leads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460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Show up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230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CVR SU → paid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54,9%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55%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FP progress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43,5%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70%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Full payment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117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Revenue (Rp jt)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806440" y="3520440"/>
            <a:ext cx="5836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3 AKSI UTAMA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806440" y="3813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263640" y="379476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Lunasi 35 DP lewat cash bertahap / Indodana: target 21 FP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cek harian · s.d. 20 Okt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5445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63640" y="452628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Closing FP, bukan DP: promo FP hari ini + pitch Advanced 12 bulan dulu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· mulai 6 Okt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8064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263640" y="525780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Leads ke 460: aktivasi perumahan &amp; sekolah Taman Palem + 2 event weekend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+ Marketing · W41–W42</a:t>
            </a:r>
            <a:endParaRPr lang="en-US" sz="1400" dirty="0"/>
          </a:p>
        </p:txBody>
      </p:sp>
      <p:sp>
        <p:nvSpPr>
          <p:cNvPr id="40" name="source-207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Model slide 15: show up = max(kebutuhan 229, Sep 113); leads = show up ÷ show-up rate 50%, min. leads Sep; bulat ke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 · BINTARO U-TOWN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BTU · Buka jadwal yang dicari parents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SEPTEMBER</a:t>
            </a:r>
            <a:endParaRPr lang="en-US" sz="1200" dirty="0"/>
          </a:p>
        </p:txBody>
      </p:sp>
      <p:sp>
        <p:nvSpPr>
          <p:cNvPr id="5" name="card-208"/>
          <p:cNvSpPr/>
          <p:nvPr/>
        </p:nvSpPr>
        <p:spPr>
          <a:xfrm>
            <a:off x="548640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Revenue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Rp 393 jt</a:t>
            </a:r>
            <a:endParaRPr lang="en-US" sz="1800" dirty="0"/>
          </a:p>
        </p:txBody>
      </p:sp>
      <p:sp>
        <p:nvSpPr>
          <p:cNvPr id="8" name="chip-209"/>
          <p:cNvSpPr txBox="1"/>
          <p:nvPr/>
        </p:nvSpPr>
        <p:spPr>
          <a:xfrm>
            <a:off x="685800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66% target</a:t>
            </a:r>
            <a:endParaRPr lang="en-US" sz="1100" dirty="0"/>
          </a:p>
        </p:txBody>
      </p:sp>
      <p:sp>
        <p:nvSpPr>
          <p:cNvPr id="9" name="card-210"/>
          <p:cNvSpPr/>
          <p:nvPr/>
        </p:nvSpPr>
        <p:spPr>
          <a:xfrm>
            <a:off x="2428189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65349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Show up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65349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184</a:t>
            </a:r>
            <a:endParaRPr lang="en-US" sz="1800" dirty="0"/>
          </a:p>
        </p:txBody>
      </p:sp>
      <p:sp>
        <p:nvSpPr>
          <p:cNvPr id="12" name="chip-211"/>
          <p:cNvSpPr txBox="1"/>
          <p:nvPr/>
        </p:nvSpPr>
        <p:spPr>
          <a:xfrm>
            <a:off x="2565349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31% vs Agt</a:t>
            </a:r>
            <a:endParaRPr lang="en-US" sz="1100" dirty="0"/>
          </a:p>
        </p:txBody>
      </p:sp>
      <p:sp>
        <p:nvSpPr>
          <p:cNvPr id="13" name="card-212"/>
          <p:cNvSpPr/>
          <p:nvPr/>
        </p:nvSpPr>
        <p:spPr>
          <a:xfrm>
            <a:off x="430773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4489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CVR SU → paid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489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44,6%</a:t>
            </a:r>
            <a:endParaRPr lang="en-US" sz="1800" dirty="0"/>
          </a:p>
        </p:txBody>
      </p:sp>
      <p:sp>
        <p:nvSpPr>
          <p:cNvPr id="16" name="chip-213"/>
          <p:cNvSpPr txBox="1"/>
          <p:nvPr/>
        </p:nvSpPr>
        <p:spPr>
          <a:xfrm>
            <a:off x="444489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▲ 3,5 pp</a:t>
            </a:r>
            <a:endParaRPr lang="en-US" sz="1100" dirty="0"/>
          </a:p>
        </p:txBody>
      </p:sp>
      <p:sp>
        <p:nvSpPr>
          <p:cNvPr id="17" name="card-214"/>
          <p:cNvSpPr/>
          <p:nvPr/>
        </p:nvSpPr>
        <p:spPr>
          <a:xfrm>
            <a:off x="618728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444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FP progress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2444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79,3%</a:t>
            </a:r>
            <a:endParaRPr lang="en-US" sz="1800" dirty="0"/>
          </a:p>
        </p:txBody>
      </p:sp>
      <p:sp>
        <p:nvSpPr>
          <p:cNvPr id="20" name="chip-215"/>
          <p:cNvSpPr txBox="1"/>
          <p:nvPr/>
        </p:nvSpPr>
        <p:spPr>
          <a:xfrm>
            <a:off x="632444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▲ 20,2 pp</a:t>
            </a:r>
            <a:endParaRPr lang="en-US" sz="1100" dirty="0"/>
          </a:p>
        </p:txBody>
      </p:sp>
      <p:sp>
        <p:nvSpPr>
          <p:cNvPr id="21" name="card-216"/>
          <p:cNvSpPr/>
          <p:nvPr/>
        </p:nvSpPr>
        <p:spPr>
          <a:xfrm>
            <a:off x="8066837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03997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DP belum lunas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03997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17</a:t>
            </a:r>
            <a:endParaRPr lang="en-US" sz="1800" dirty="0"/>
          </a:p>
        </p:txBody>
      </p:sp>
      <p:sp>
        <p:nvSpPr>
          <p:cNvPr id="24" name="chip-217"/>
          <p:cNvSpPr txBox="1"/>
          <p:nvPr/>
        </p:nvSpPr>
        <p:spPr>
          <a:xfrm>
            <a:off x="8203997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kejar → FP</a:t>
            </a:r>
            <a:endParaRPr lang="en-US" sz="1100" dirty="0"/>
          </a:p>
        </p:txBody>
      </p:sp>
      <p:sp>
        <p:nvSpPr>
          <p:cNvPr id="25" name="card-218"/>
          <p:cNvSpPr/>
          <p:nvPr/>
        </p:nvSpPr>
        <p:spPr>
          <a:xfrm>
            <a:off x="9946386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83546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SUNP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83546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135</a:t>
            </a:r>
            <a:endParaRPr lang="en-US" sz="1800" dirty="0"/>
          </a:p>
        </p:txBody>
      </p:sp>
      <p:sp>
        <p:nvSpPr>
          <p:cNvPr id="28" name="chip-219"/>
          <p:cNvSpPr txBox="1"/>
          <p:nvPr/>
        </p:nvSpPr>
        <p:spPr>
          <a:xfrm>
            <a:off x="10083546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pool follow-up</a:t>
            </a:r>
            <a:endParaRPr lang="en-US" sz="1100" dirty="0"/>
          </a:p>
        </p:txBody>
      </p:sp>
      <p:sp>
        <p:nvSpPr>
          <p:cNvPr id="29" name="card-220"/>
          <p:cNvSpPr/>
          <p:nvPr/>
        </p:nvSpPr>
        <p:spPr>
          <a:xfrm>
            <a:off x="548640" y="2779776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DCEEF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2779776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475"/>
                </a:solidFill>
              </a:rPr>
              <a:t>Diagnosis: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Revenue 66%, stagnan vs Agustus. 50 dari 95 kasus “jadwal tidak cocok” se-area ada di BTU, plus 28 kasus harga. Utilisasi 10,4% — kursinya ada, jamnya belum pas. Revenue per FP Rp 4,6 jt, terendah.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20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DRAFT KOMITMEN OKTOBER</a:t>
            </a:r>
            <a:endParaRPr lang="en-US" sz="1200" dirty="0"/>
          </a:p>
        </p:txBody>
      </p:sp>
      <p:graphicFrame>
        <p:nvGraphicFramePr>
          <p:cNvPr id="21" name="table-commit-BT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 Okt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Leads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565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Show up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270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CVR SU → paid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44,6%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FP progress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79,3%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85%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Full payment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130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Revenue (Rp jt)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806440" y="3520440"/>
            <a:ext cx="5836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3 AKSI UTAMA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806440" y="3813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263640" y="379476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Rekap jam yang diminta 50 SUNP “jadwal” → buka/alih slot di slot map meeting → hubungi ulang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× Senior Coach · s.d. 12 Okt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5445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63640" y="452628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Keberatan harga: battlecard + Indodana; survei harga Studiorenang Bintaro U-Town (1,5 km)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· s.d. 11 Okt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8064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263640" y="525780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Naikkan ticket: pitch Advanced 12 bulan dan Basic 6 bulan sebelum Lite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· mulai 6 Okt</a:t>
            </a:r>
            <a:endParaRPr lang="en-US" sz="1400" dirty="0"/>
          </a:p>
        </p:txBody>
      </p:sp>
      <p:sp>
        <p:nvSpPr>
          <p:cNvPr id="40" name="source-221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Model slide 15: show up = max(kebutuhan 266, Sep 184); leads = show up ÷ show-up rate 48%, min. leads Sep; bulat ke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 · HARAPAN INDAH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HIB · Ubah “diskusi keluarga” jadi closing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SEPTEMBER</a:t>
            </a:r>
            <a:endParaRPr lang="en-US" sz="1200" dirty="0"/>
          </a:p>
        </p:txBody>
      </p:sp>
      <p:sp>
        <p:nvSpPr>
          <p:cNvPr id="5" name="card-222"/>
          <p:cNvSpPr/>
          <p:nvPr/>
        </p:nvSpPr>
        <p:spPr>
          <a:xfrm>
            <a:off x="548640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Revenue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Rp 403 jt</a:t>
            </a:r>
            <a:endParaRPr lang="en-US" sz="1800" dirty="0"/>
          </a:p>
        </p:txBody>
      </p:sp>
      <p:sp>
        <p:nvSpPr>
          <p:cNvPr id="8" name="chip-223"/>
          <p:cNvSpPr txBox="1"/>
          <p:nvPr/>
        </p:nvSpPr>
        <p:spPr>
          <a:xfrm>
            <a:off x="685800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67% target</a:t>
            </a:r>
            <a:endParaRPr lang="en-US" sz="1100" dirty="0"/>
          </a:p>
        </p:txBody>
      </p:sp>
      <p:sp>
        <p:nvSpPr>
          <p:cNvPr id="9" name="card-224"/>
          <p:cNvSpPr/>
          <p:nvPr/>
        </p:nvSpPr>
        <p:spPr>
          <a:xfrm>
            <a:off x="2428189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65349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Show up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65349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201</a:t>
            </a:r>
            <a:endParaRPr lang="en-US" sz="1800" dirty="0"/>
          </a:p>
        </p:txBody>
      </p:sp>
      <p:sp>
        <p:nvSpPr>
          <p:cNvPr id="12" name="chip-225"/>
          <p:cNvSpPr txBox="1"/>
          <p:nvPr/>
        </p:nvSpPr>
        <p:spPr>
          <a:xfrm>
            <a:off x="2565349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▼ 31% vs Agt</a:t>
            </a:r>
            <a:endParaRPr lang="en-US" sz="1100" dirty="0"/>
          </a:p>
        </p:txBody>
      </p:sp>
      <p:sp>
        <p:nvSpPr>
          <p:cNvPr id="13" name="card-226"/>
          <p:cNvSpPr/>
          <p:nvPr/>
        </p:nvSpPr>
        <p:spPr>
          <a:xfrm>
            <a:off x="430773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4489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CVR SU → paid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489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36,8%</a:t>
            </a:r>
            <a:endParaRPr lang="en-US" sz="1800" dirty="0"/>
          </a:p>
        </p:txBody>
      </p:sp>
      <p:sp>
        <p:nvSpPr>
          <p:cNvPr id="16" name="chip-227"/>
          <p:cNvSpPr txBox="1"/>
          <p:nvPr/>
        </p:nvSpPr>
        <p:spPr>
          <a:xfrm>
            <a:off x="444489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▲ 12,8 pp</a:t>
            </a:r>
            <a:endParaRPr lang="en-US" sz="1100" dirty="0"/>
          </a:p>
        </p:txBody>
      </p:sp>
      <p:sp>
        <p:nvSpPr>
          <p:cNvPr id="17" name="card-228"/>
          <p:cNvSpPr/>
          <p:nvPr/>
        </p:nvSpPr>
        <p:spPr>
          <a:xfrm>
            <a:off x="6187288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4448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FP progress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24448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79,7%</a:t>
            </a:r>
            <a:endParaRPr lang="en-US" sz="1800" dirty="0"/>
          </a:p>
        </p:txBody>
      </p:sp>
      <p:sp>
        <p:nvSpPr>
          <p:cNvPr id="20" name="chip-229"/>
          <p:cNvSpPr txBox="1"/>
          <p:nvPr/>
        </p:nvSpPr>
        <p:spPr>
          <a:xfrm>
            <a:off x="6324448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▲ 2,6 pp</a:t>
            </a:r>
            <a:endParaRPr lang="en-US" sz="1100" dirty="0"/>
          </a:p>
        </p:txBody>
      </p:sp>
      <p:sp>
        <p:nvSpPr>
          <p:cNvPr id="21" name="card-230"/>
          <p:cNvSpPr/>
          <p:nvPr/>
        </p:nvSpPr>
        <p:spPr>
          <a:xfrm>
            <a:off x="8066837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03997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DP belum lunas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03997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15</a:t>
            </a:r>
            <a:endParaRPr lang="en-US" sz="1800" dirty="0"/>
          </a:p>
        </p:txBody>
      </p:sp>
      <p:sp>
        <p:nvSpPr>
          <p:cNvPr id="24" name="chip-231"/>
          <p:cNvSpPr txBox="1"/>
          <p:nvPr/>
        </p:nvSpPr>
        <p:spPr>
          <a:xfrm>
            <a:off x="8203997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kejar → FP</a:t>
            </a:r>
            <a:endParaRPr lang="en-US" sz="1100" dirty="0"/>
          </a:p>
        </p:txBody>
      </p:sp>
      <p:sp>
        <p:nvSpPr>
          <p:cNvPr id="25" name="card-232"/>
          <p:cNvSpPr/>
          <p:nvPr/>
        </p:nvSpPr>
        <p:spPr>
          <a:xfrm>
            <a:off x="9946386" y="1664208"/>
            <a:ext cx="1696669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83546" y="1737360"/>
            <a:ext cx="14223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SUNP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83546" y="1965960"/>
            <a:ext cx="14223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156</a:t>
            </a:r>
            <a:endParaRPr lang="en-US" sz="1800" dirty="0"/>
          </a:p>
        </p:txBody>
      </p:sp>
      <p:sp>
        <p:nvSpPr>
          <p:cNvPr id="28" name="chip-233"/>
          <p:cNvSpPr txBox="1"/>
          <p:nvPr/>
        </p:nvSpPr>
        <p:spPr>
          <a:xfrm>
            <a:off x="10083546" y="2322576"/>
            <a:ext cx="1422349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pool follow-up</a:t>
            </a:r>
            <a:endParaRPr lang="en-US" sz="1100" dirty="0"/>
          </a:p>
        </p:txBody>
      </p:sp>
      <p:sp>
        <p:nvSpPr>
          <p:cNvPr id="29" name="card-234"/>
          <p:cNvSpPr/>
          <p:nvPr/>
        </p:nvSpPr>
        <p:spPr>
          <a:xfrm>
            <a:off x="548640" y="2779776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DCEEF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2779776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475"/>
                </a:solidFill>
              </a:rPr>
              <a:t>Diagnosis: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Satu-satunya center yang tumbuh (▲24%) dengan show-up rate terbaik 54,8%. Tapi CVR terendah (36,8%) dan SUNP terbanyak (156) — 54 kasus “diskusi dengan keluarga”.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20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DRAFT KOMITMEN OKTOBER</a:t>
            </a:r>
            <a:endParaRPr lang="en-US" sz="1200" dirty="0"/>
          </a:p>
        </p:txBody>
      </p:sp>
      <p:graphicFrame>
        <p:nvGraphicFramePr>
          <p:cNvPr id="22" name="table-commit-HI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 Okt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Leads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367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500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Show up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275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CVR SU → paid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36,8%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42%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FP progress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79,7%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85%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Full payment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123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Revenue (Rp jt)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806440" y="3520440"/>
            <a:ext cx="5836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3 AKSI UTAMA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806440" y="3813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263640" y="379476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Konfirmasi kedua orang tua hadir saat booking; kalau tidak, video call di tempat + follow-up H+1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· mulai 6 Okt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5445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263640" y="452628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Replikasi Agung (SA of the Month): shadowing &amp; role-play pitching untuk SA lain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CM · W41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8064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263640" y="525780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Reaktivasi 156 SUNP lewat SUNP Tracker: target 16 closing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 · harian</a:t>
            </a:r>
            <a:endParaRPr lang="en-US" sz="1400" dirty="0"/>
          </a:p>
        </p:txBody>
      </p:sp>
      <p:sp>
        <p:nvSpPr>
          <p:cNvPr id="40" name="source-235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Model slide 15: show up = max(kebutuhan 275, Sep 201); leads = show up ÷ show-up rate 55%, min. leads Sep; bulat ke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Ringkasan komitmen Oktober</a:t>
            </a:r>
            <a:endParaRPr lang="en-US" sz="3200" dirty="0"/>
          </a:p>
        </p:txBody>
      </p:sp>
      <p:graphicFrame>
        <p:nvGraphicFramePr>
          <p:cNvPr id="23" name="table-summar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34440"/>
                <a:gridCol w="1234440"/>
                <a:gridCol w="1097280"/>
                <a:gridCol w="1371600"/>
                <a:gridCol w="1463040"/>
                <a:gridCol w="1645920"/>
                <a:gridCol w="1950415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Center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Show up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FP progress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Full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Revenue (Rp jt)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Konfirmasi CM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KLM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72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KWC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80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PML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82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TMP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117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BTU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565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270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130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HIB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42%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123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Area</a:t>
                      </a:r>
                      <a:endParaRPr lang="en-US" sz="15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2.675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1.335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≥ 81%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≥ 604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475"/>
                          </a:solidFill>
                        </a:rPr>
                        <a:t>≥ 3.600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1"/>
                    </a:solidFill>
                  </a:tcPr>
                </a:tc>
              </a:tr>
            </a:tbl>
          </a:graphicData>
        </a:graphic>
      </p:graphicFrame>
      <p:sp>
        <p:nvSpPr>
          <p:cNvPr id="5" name="card-236"/>
          <p:cNvSpPr/>
          <p:nvPr/>
        </p:nvSpPr>
        <p:spPr>
          <a:xfrm>
            <a:off x="548640" y="5440680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544068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Dibanding September: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leads +33%, show up +34%, full payment +56%, revenue +47%.</a:t>
            </a:r>
            <a:endParaRPr lang="en-US" sz="1400" dirty="0"/>
          </a:p>
        </p:txBody>
      </p:sp>
      <p:sp>
        <p:nvSpPr>
          <p:cNvPr id="7" name="source-237"/>
          <p:cNvSpPr txBox="1"/>
          <p:nvPr/>
        </p:nvSpPr>
        <p:spPr>
          <a:xfrm>
            <a:off x="548640" y="60716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Kolom konfirmasi diisi CM di meeting. Baris Area: CVR dan FP progress = target minimum area. Target revenue Rp 600 jt per center.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04 · KOMITMEN PER CENTER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Ritme monitoring Oktober</a:t>
            </a:r>
            <a:endParaRPr lang="en-US" sz="3200" dirty="0"/>
          </a:p>
        </p:txBody>
      </p:sp>
      <p:sp>
        <p:nvSpPr>
          <p:cNvPr id="4" name="card-238"/>
          <p:cNvSpPr/>
          <p:nvPr/>
        </p:nvSpPr>
        <p:spPr>
          <a:xfrm>
            <a:off x="548640" y="1600200"/>
            <a:ext cx="2567864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W41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783080"/>
            <a:ext cx="1104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5–11 Okt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110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Kick-off komitmen. Antrian DP &amp; SUNP dibersihkan. Survei harga kompetitor KWC, BTU, HIB. Slot BTU dibuka.</a:t>
            </a:r>
            <a:endParaRPr lang="en-US" sz="1400" dirty="0"/>
          </a:p>
        </p:txBody>
      </p:sp>
      <p:sp>
        <p:nvSpPr>
          <p:cNvPr id="8" name="card-239"/>
          <p:cNvSpPr/>
          <p:nvPr/>
        </p:nvSpPr>
        <p:spPr>
          <a:xfrm>
            <a:off x="3390824" y="160020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DC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9424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W42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670984" y="1783080"/>
            <a:ext cx="1104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12–18 Okt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377440"/>
            <a:ext cx="2110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Checkpoint 15 Okt: revenue ≥ 50% target (Rp 300 jt per center). Di bawah 40% → action plan bersama AM.</a:t>
            </a:r>
            <a:endParaRPr lang="en-US" sz="1400" dirty="0"/>
          </a:p>
        </p:txBody>
      </p:sp>
      <p:sp>
        <p:nvSpPr>
          <p:cNvPr id="12" name="card-240"/>
          <p:cNvSpPr/>
          <p:nvPr/>
        </p:nvSpPr>
        <p:spPr>
          <a:xfrm>
            <a:off x="6233008" y="1600200"/>
            <a:ext cx="2567864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608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W43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513168" y="1783080"/>
            <a:ext cx="1104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19–25 Okt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377440"/>
            <a:ext cx="2110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Batas 20 Okt: 60% DP September lunas. Evaluasi aktivasi lokal: leads vs target.</a:t>
            </a:r>
            <a:endParaRPr lang="en-US" sz="1400" dirty="0"/>
          </a:p>
        </p:txBody>
      </p:sp>
      <p:sp>
        <p:nvSpPr>
          <p:cNvPr id="16" name="card-241"/>
          <p:cNvSpPr/>
          <p:nvPr/>
        </p:nvSpPr>
        <p:spPr>
          <a:xfrm>
            <a:off x="9075191" y="1600200"/>
            <a:ext cx="2567864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03791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W44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0355351" y="1783080"/>
            <a:ext cx="1104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26–31 Okt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303791" y="2377440"/>
            <a:ext cx="2110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Closing bulan. Data per 31 Okt jadi bahan review Oktober.</a:t>
            </a:r>
            <a:endParaRPr lang="en-US" sz="1400" dirty="0"/>
          </a:p>
        </p:txBody>
      </p:sp>
      <p:sp>
        <p:nvSpPr>
          <p:cNvPr id="20" name="icon-bg-242"/>
          <p:cNvSpPr/>
          <p:nvPr/>
        </p:nvSpPr>
        <p:spPr>
          <a:xfrm>
            <a:off x="548640" y="424281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243" descr="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4357116"/>
            <a:ext cx="228600" cy="2286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88720" y="42062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Harian · CM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3977640" y="4206240"/>
            <a:ext cx="7665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Cek DSR dan SUNP &amp; DP Tracker: DP overdue, SUNP overdue, belum pernah di-FU. Naik dari kemarin = ada SA yang perlu dibantu.</a:t>
            </a:r>
            <a:endParaRPr lang="en-US" sz="1400" dirty="0"/>
          </a:p>
        </p:txBody>
      </p:sp>
      <p:sp>
        <p:nvSpPr>
          <p:cNvPr id="24" name="icon-bg-244"/>
          <p:cNvSpPr/>
          <p:nvPr/>
        </p:nvSpPr>
        <p:spPr>
          <a:xfrm>
            <a:off x="548640" y="4846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245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4960620"/>
            <a:ext cx="228600" cy="2286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18872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Senin · CM × Senior Coach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3977640" y="4809744"/>
            <a:ext cx="7665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Slot map meeting: kelas yang dijual minggu ini, coach PIC, target murid → daftar jual ke SA.</a:t>
            </a:r>
            <a:endParaRPr lang="en-US" sz="1400" dirty="0"/>
          </a:p>
        </p:txBody>
      </p:sp>
      <p:sp>
        <p:nvSpPr>
          <p:cNvPr id="28" name="icon-bg-246"/>
          <p:cNvSpPr/>
          <p:nvPr/>
        </p:nvSpPr>
        <p:spPr>
          <a:xfrm>
            <a:off x="548640" y="544982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-247" descr="ChartL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5564124"/>
            <a:ext cx="228600" cy="2286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188720" y="54132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Senin · Area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3977640" y="5413248"/>
            <a:ext cx="7665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 League Weekly: CVR, FP, revenue per SA dan per center vs komitmen.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Oktober: Rp 3,6 M — 6 center × Rp 600 jt</a:t>
            </a:r>
            <a:endParaRPr lang="en-US" sz="4000" dirty="0"/>
          </a:p>
        </p:txBody>
      </p:sp>
      <p:sp>
        <p:nvSpPr>
          <p:cNvPr id="3" name="card-dark-248"/>
          <p:cNvSpPr/>
          <p:nvPr/>
        </p:nvSpPr>
        <p:spPr>
          <a:xfrm>
            <a:off x="548640" y="2743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134C5A"/>
          </a:solidFill>
          <a:ln/>
        </p:spPr>
      </p:sp>
      <p:sp>
        <p:nvSpPr>
          <p:cNvPr id="4" name="icon-bg-249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250" descr="Bullh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1089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611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Volume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97764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Leads 2.675 · show up 1.335</a:t>
            </a:r>
            <a:endParaRPr lang="en-US" sz="1400" dirty="0"/>
          </a:p>
        </p:txBody>
      </p:sp>
      <p:sp>
        <p:nvSpPr>
          <p:cNvPr id="8" name="card-dark-251"/>
          <p:cNvSpPr/>
          <p:nvPr/>
        </p:nvSpPr>
        <p:spPr>
          <a:xfrm>
            <a:off x="3390824" y="2743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134C5A"/>
          </a:solidFill>
          <a:ln/>
        </p:spPr>
      </p:sp>
      <p:sp>
        <p:nvSpPr>
          <p:cNvPr id="9" name="icon-bg-252"/>
          <p:cNvSpPr/>
          <p:nvPr/>
        </p:nvSpPr>
        <p:spPr>
          <a:xfrm>
            <a:off x="3619424" y="2971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-253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584" y="31089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3611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Closing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19424" y="397764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CVR 45% dengan playbook 5 alasan SUNP</a:t>
            </a:r>
            <a:endParaRPr lang="en-US" sz="1400" dirty="0"/>
          </a:p>
        </p:txBody>
      </p:sp>
      <p:sp>
        <p:nvSpPr>
          <p:cNvPr id="13" name="card-dark-254"/>
          <p:cNvSpPr/>
          <p:nvPr/>
        </p:nvSpPr>
        <p:spPr>
          <a:xfrm>
            <a:off x="6233008" y="2743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134C5A"/>
          </a:solidFill>
          <a:ln/>
        </p:spPr>
      </p:sp>
      <p:sp>
        <p:nvSpPr>
          <p:cNvPr id="14" name="icon-bg-255"/>
          <p:cNvSpPr/>
          <p:nvPr/>
        </p:nvSpPr>
        <p:spPr>
          <a:xfrm>
            <a:off x="6461608" y="2971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-256" descr="Wal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31089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61608" y="3611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Cash &amp; ticket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61608" y="397764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60% DP lunas s.d. 20 Okt · pitch paket 12 bulan dulu</a:t>
            </a:r>
            <a:endParaRPr lang="en-US" sz="1400" dirty="0"/>
          </a:p>
        </p:txBody>
      </p:sp>
      <p:sp>
        <p:nvSpPr>
          <p:cNvPr id="18" name="card-dark-257"/>
          <p:cNvSpPr/>
          <p:nvPr/>
        </p:nvSpPr>
        <p:spPr>
          <a:xfrm>
            <a:off x="9075191" y="274320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134C5A"/>
          </a:solidFill>
          <a:ln/>
        </p:spPr>
      </p:sp>
      <p:sp>
        <p:nvSpPr>
          <p:cNvPr id="19" name="icon-bg-258"/>
          <p:cNvSpPr/>
          <p:nvPr/>
        </p:nvSpPr>
        <p:spPr>
          <a:xfrm>
            <a:off x="9303791" y="2971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con-259" descr="Calenda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0951" y="31089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03791" y="3611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Kapasitas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303791" y="397764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Slot map tiap Senin · jual jam yang dicari parents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212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Langkah berikutnya: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CM konfirmasi angka &amp; PIC aksi paling lambat H+1 setelah meeting. Checkpoint pertama 15 Oktober.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s Swim Monthly Review">
  <a:themeElements>
    <a:clrScheme name="Sparks Swim Monthly Review">
      <a:dk1>
        <a:srgbClr val="13242E"/>
      </a:dk1>
      <a:lt1>
        <a:srgbClr val="FFFFFF"/>
      </a:lt1>
      <a:dk2>
        <a:srgbClr val="0A3D4A"/>
      </a:dk2>
      <a:lt2>
        <a:srgbClr val="EEF4F5"/>
      </a:lt2>
      <a:accent1>
        <a:srgbClr val="0B6475"/>
      </a:accent1>
      <a:accent2>
        <a:srgbClr val="35B6B4"/>
      </a:accent2>
      <a:accent3>
        <a:srgbClr val="D9482B"/>
      </a:accent3>
      <a:accent4>
        <a:srgbClr val="E39B2D"/>
      </a:accent4>
      <a:accent5>
        <a:srgbClr val="2E9E6A"/>
      </a:accent5>
      <a:accent6>
        <a:srgbClr val="647A82"/>
      </a:accent6>
      <a:hlink>
        <a:srgbClr val="0B6475"/>
      </a:hlink>
      <a:folHlink>
        <a:srgbClr val="647A82"/>
      </a:folHlink>
    </a:clrScheme>
    <a:fontScheme name="Sparks Swim Monthly Review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Review September 2026 - Center Manager Meeting</dc:title>
  <dc:subject>Achievement September 2026, center yang perlu improvement, strategi dan komitmen Oktober</dc:subject>
  <dc:creator>Area Manager Sparks Swim</dc:creator>
  <cp:lastModifiedBy>Area Manager Sparks Swim</cp:lastModifiedBy>
  <cp:revision>1</cp:revision>
  <dcterms:created xsi:type="dcterms:W3CDTF">2026-10-05T23:36:10Z</dcterms:created>
  <dcterms:modified xsi:type="dcterms:W3CDTF">2026-10-05T23:36:10Z</dcterms:modified>
</cp:coreProperties>
</file>